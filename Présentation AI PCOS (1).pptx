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x="18288000" cy="10287000"/>
  <p:notesSz cx="6858000" cy="9144000"/>
  <p:embeddedFontLst>
    <p:embeddedFont>
      <p:font typeface="Quicksand Bold" charset="1" panose="00000000000000000000"/>
      <p:regular r:id="rId15"/>
    </p:embeddedFont>
    <p:embeddedFont>
      <p:font typeface="Bungee" charset="1" panose="00000000000000000000"/>
      <p:regular r:id="rId16"/>
    </p:embeddedFont>
    <p:embeddedFont>
      <p:font typeface="Chewy" charset="1" panose="02000000000000000000"/>
      <p:regular r:id="rId17"/>
    </p:embeddedFont>
    <p:embeddedFont>
      <p:font typeface="Brittany" charset="1" panose="00000000000000000000"/>
      <p:regular r:id="rId18"/>
    </p:embeddedFont>
    <p:embeddedFont>
      <p:font typeface="Quicksand" charset="1" panose="00000000000000000000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9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10.png" Type="http://schemas.openxmlformats.org/officeDocument/2006/relationships/image"/><Relationship Id="rId5" Target="../media/image11.png" Type="http://schemas.openxmlformats.org/officeDocument/2006/relationships/image"/><Relationship Id="rId6" Target="../media/image12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13.png" Type="http://schemas.openxmlformats.org/officeDocument/2006/relationships/image"/><Relationship Id="rId5" Target="../media/image14.png" Type="http://schemas.openxmlformats.org/officeDocument/2006/relationships/image"/><Relationship Id="rId6" Target="../media/image15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C367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91907" y="1028700"/>
            <a:ext cx="16264346" cy="7572531"/>
            <a:chOff x="0" y="0"/>
            <a:chExt cx="4283614" cy="199441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283614" cy="1994412"/>
            </a:xfrm>
            <a:custGeom>
              <a:avLst/>
              <a:gdLst/>
              <a:ahLst/>
              <a:cxnLst/>
              <a:rect r="r" b="b" t="t" l="l"/>
              <a:pathLst>
                <a:path h="1994412" w="4283614">
                  <a:moveTo>
                    <a:pt x="38080" y="0"/>
                  </a:moveTo>
                  <a:lnTo>
                    <a:pt x="4245533" y="0"/>
                  </a:lnTo>
                  <a:cubicBezTo>
                    <a:pt x="4255633" y="0"/>
                    <a:pt x="4265319" y="4012"/>
                    <a:pt x="4272460" y="11154"/>
                  </a:cubicBezTo>
                  <a:cubicBezTo>
                    <a:pt x="4279602" y="18295"/>
                    <a:pt x="4283614" y="27981"/>
                    <a:pt x="4283614" y="38080"/>
                  </a:cubicBezTo>
                  <a:lnTo>
                    <a:pt x="4283614" y="1956331"/>
                  </a:lnTo>
                  <a:cubicBezTo>
                    <a:pt x="4283614" y="1966431"/>
                    <a:pt x="4279602" y="1976117"/>
                    <a:pt x="4272460" y="1983258"/>
                  </a:cubicBezTo>
                  <a:cubicBezTo>
                    <a:pt x="4265319" y="1990400"/>
                    <a:pt x="4255633" y="1994412"/>
                    <a:pt x="4245533" y="1994412"/>
                  </a:cubicBezTo>
                  <a:lnTo>
                    <a:pt x="38080" y="1994412"/>
                  </a:lnTo>
                  <a:cubicBezTo>
                    <a:pt x="27981" y="1994412"/>
                    <a:pt x="18295" y="1990400"/>
                    <a:pt x="11154" y="1983258"/>
                  </a:cubicBezTo>
                  <a:cubicBezTo>
                    <a:pt x="4012" y="1976117"/>
                    <a:pt x="0" y="1966431"/>
                    <a:pt x="0" y="1956331"/>
                  </a:cubicBezTo>
                  <a:lnTo>
                    <a:pt x="0" y="38080"/>
                  </a:lnTo>
                  <a:cubicBezTo>
                    <a:pt x="0" y="27981"/>
                    <a:pt x="4012" y="18295"/>
                    <a:pt x="11154" y="11154"/>
                  </a:cubicBezTo>
                  <a:cubicBezTo>
                    <a:pt x="18295" y="4012"/>
                    <a:pt x="27981" y="0"/>
                    <a:pt x="38080" y="0"/>
                  </a:cubicBezTo>
                  <a:close/>
                </a:path>
              </a:pathLst>
            </a:custGeom>
            <a:solidFill>
              <a:srgbClr val="CCEB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283614" cy="20325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621902" y="2472418"/>
            <a:ext cx="15063246" cy="10042164"/>
          </a:xfrm>
          <a:custGeom>
            <a:avLst/>
            <a:gdLst/>
            <a:ahLst/>
            <a:cxnLst/>
            <a:rect r="r" b="b" t="t" l="l"/>
            <a:pathLst>
              <a:path h="10042164" w="15063246">
                <a:moveTo>
                  <a:pt x="0" y="0"/>
                </a:moveTo>
                <a:lnTo>
                  <a:pt x="15063246" y="0"/>
                </a:lnTo>
                <a:lnTo>
                  <a:pt x="15063246" y="10042163"/>
                </a:lnTo>
                <a:lnTo>
                  <a:pt x="0" y="1004216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5998245" y="6710597"/>
            <a:ext cx="6291509" cy="946236"/>
            <a:chOff x="0" y="0"/>
            <a:chExt cx="1657023" cy="24921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657023" cy="249214"/>
            </a:xfrm>
            <a:custGeom>
              <a:avLst/>
              <a:gdLst/>
              <a:ahLst/>
              <a:cxnLst/>
              <a:rect r="r" b="b" t="t" l="l"/>
              <a:pathLst>
                <a:path h="249214" w="1657023">
                  <a:moveTo>
                    <a:pt x="98443" y="0"/>
                  </a:moveTo>
                  <a:lnTo>
                    <a:pt x="1558580" y="0"/>
                  </a:lnTo>
                  <a:cubicBezTo>
                    <a:pt x="1612949" y="0"/>
                    <a:pt x="1657023" y="44074"/>
                    <a:pt x="1657023" y="98443"/>
                  </a:cubicBezTo>
                  <a:lnTo>
                    <a:pt x="1657023" y="150772"/>
                  </a:lnTo>
                  <a:cubicBezTo>
                    <a:pt x="1657023" y="176880"/>
                    <a:pt x="1646651" y="201920"/>
                    <a:pt x="1628190" y="220381"/>
                  </a:cubicBezTo>
                  <a:cubicBezTo>
                    <a:pt x="1609728" y="238843"/>
                    <a:pt x="1584689" y="249214"/>
                    <a:pt x="1558580" y="249214"/>
                  </a:cubicBezTo>
                  <a:lnTo>
                    <a:pt x="98443" y="249214"/>
                  </a:lnTo>
                  <a:cubicBezTo>
                    <a:pt x="44074" y="249214"/>
                    <a:pt x="0" y="205140"/>
                    <a:pt x="0" y="150772"/>
                  </a:cubicBezTo>
                  <a:lnTo>
                    <a:pt x="0" y="98443"/>
                  </a:lnTo>
                  <a:cubicBezTo>
                    <a:pt x="0" y="44074"/>
                    <a:pt x="44074" y="0"/>
                    <a:pt x="98443" y="0"/>
                  </a:cubicBezTo>
                  <a:close/>
                </a:path>
              </a:pathLst>
            </a:custGeom>
            <a:solidFill>
              <a:srgbClr val="FFFFFF"/>
            </a:solidFill>
            <a:ln w="19050" cap="rnd">
              <a:solidFill>
                <a:srgbClr val="546FB2"/>
              </a:solidFill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66675"/>
              <a:ext cx="1657023" cy="31588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919"/>
                </a:lnSpc>
                <a:spcBef>
                  <a:spcPct val="0"/>
                </a:spcBef>
              </a:pPr>
              <a:r>
                <a:rPr lang="en-US" b="true" sz="2799">
                  <a:solidFill>
                    <a:srgbClr val="1C3675"/>
                  </a:solidFill>
                  <a:latin typeface="Quicksand Bold"/>
                  <a:ea typeface="Quicksand Bold"/>
                  <a:cs typeface="Quicksand Bold"/>
                  <a:sym typeface="Quicksand Bold"/>
                </a:rPr>
                <a:t>Yasmine Douik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6924922" y="1361949"/>
            <a:ext cx="4798317" cy="928727"/>
            <a:chOff x="0" y="0"/>
            <a:chExt cx="1263754" cy="244603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263754" cy="244603"/>
            </a:xfrm>
            <a:custGeom>
              <a:avLst/>
              <a:gdLst/>
              <a:ahLst/>
              <a:cxnLst/>
              <a:rect r="r" b="b" t="t" l="l"/>
              <a:pathLst>
                <a:path h="244603" w="1263754">
                  <a:moveTo>
                    <a:pt x="122302" y="0"/>
                  </a:moveTo>
                  <a:lnTo>
                    <a:pt x="1141453" y="0"/>
                  </a:lnTo>
                  <a:cubicBezTo>
                    <a:pt x="1173889" y="0"/>
                    <a:pt x="1204997" y="12885"/>
                    <a:pt x="1227933" y="35821"/>
                  </a:cubicBezTo>
                  <a:cubicBezTo>
                    <a:pt x="1250869" y="58757"/>
                    <a:pt x="1263754" y="89865"/>
                    <a:pt x="1263754" y="122302"/>
                  </a:cubicBezTo>
                  <a:lnTo>
                    <a:pt x="1263754" y="122302"/>
                  </a:lnTo>
                  <a:cubicBezTo>
                    <a:pt x="1263754" y="189847"/>
                    <a:pt x="1208998" y="244603"/>
                    <a:pt x="1141453" y="244603"/>
                  </a:cubicBezTo>
                  <a:lnTo>
                    <a:pt x="122302" y="244603"/>
                  </a:lnTo>
                  <a:cubicBezTo>
                    <a:pt x="89865" y="244603"/>
                    <a:pt x="58757" y="231718"/>
                    <a:pt x="35821" y="208782"/>
                  </a:cubicBezTo>
                  <a:cubicBezTo>
                    <a:pt x="12885" y="185846"/>
                    <a:pt x="0" y="154738"/>
                    <a:pt x="0" y="122302"/>
                  </a:cubicBezTo>
                  <a:lnTo>
                    <a:pt x="0" y="122302"/>
                  </a:lnTo>
                  <a:cubicBezTo>
                    <a:pt x="0" y="89865"/>
                    <a:pt x="12885" y="58757"/>
                    <a:pt x="35821" y="35821"/>
                  </a:cubicBezTo>
                  <a:cubicBezTo>
                    <a:pt x="58757" y="12885"/>
                    <a:pt x="89865" y="0"/>
                    <a:pt x="122302" y="0"/>
                  </a:cubicBezTo>
                  <a:close/>
                </a:path>
              </a:pathLst>
            </a:custGeom>
            <a:solidFill>
              <a:srgbClr val="1C3675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1263754" cy="2827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3111367" y="2329543"/>
            <a:ext cx="12065265" cy="24854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331"/>
              </a:lnSpc>
            </a:pPr>
            <a:r>
              <a:rPr lang="en-US" sz="5024">
                <a:solidFill>
                  <a:srgbClr val="1D3163"/>
                </a:solidFill>
                <a:latin typeface="Bungee"/>
                <a:ea typeface="Bungee"/>
                <a:cs typeface="Bungee"/>
                <a:sym typeface="Bungee"/>
              </a:rPr>
              <a:t>PRÉDICTION DU SYNDROME DES OVAIRES POLYKYSTIQUES (PCOS) À L’AIDE DU MACHINE LEARNING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-524871" y="9504994"/>
            <a:ext cx="2284068" cy="3993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80"/>
              </a:lnSpc>
            </a:pPr>
            <a:r>
              <a:rPr lang="en-US" sz="2755">
                <a:solidFill>
                  <a:srgbClr val="FFFFFF"/>
                </a:solidFill>
                <a:latin typeface="Bungee"/>
                <a:ea typeface="Bungee"/>
                <a:cs typeface="Bungee"/>
                <a:sym typeface="Bungee"/>
              </a:rPr>
              <a:t>1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8062613" y="1554914"/>
            <a:ext cx="2522934" cy="4570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95"/>
              </a:lnSpc>
            </a:pPr>
            <a:r>
              <a:rPr lang="en-US" sz="2599" spc="343">
                <a:solidFill>
                  <a:srgbClr val="FFFFFF"/>
                </a:solidFill>
                <a:latin typeface="Chewy"/>
                <a:ea typeface="Chewy"/>
                <a:cs typeface="Chewy"/>
                <a:sym typeface="Chewy"/>
              </a:rPr>
              <a:t>PCOS Predictor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6375544" y="6381985"/>
            <a:ext cx="2340487" cy="542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17"/>
              </a:lnSpc>
            </a:pPr>
            <a:r>
              <a:rPr lang="en-US" sz="3598">
                <a:solidFill>
                  <a:srgbClr val="1D3163"/>
                </a:solidFill>
                <a:latin typeface="Brittany"/>
                <a:ea typeface="Brittany"/>
                <a:cs typeface="Brittany"/>
                <a:sym typeface="Brittany"/>
              </a:rPr>
              <a:t>Préparé par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C367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52020" y="913561"/>
            <a:ext cx="8430282" cy="7797174"/>
            <a:chOff x="0" y="0"/>
            <a:chExt cx="2221782" cy="205492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21782" cy="2054928"/>
            </a:xfrm>
            <a:custGeom>
              <a:avLst/>
              <a:gdLst/>
              <a:ahLst/>
              <a:cxnLst/>
              <a:rect r="r" b="b" t="t" l="l"/>
              <a:pathLst>
                <a:path h="2054928" w="2221782">
                  <a:moveTo>
                    <a:pt x="91835" y="0"/>
                  </a:moveTo>
                  <a:lnTo>
                    <a:pt x="2129948" y="0"/>
                  </a:lnTo>
                  <a:cubicBezTo>
                    <a:pt x="2180667" y="0"/>
                    <a:pt x="2221782" y="41116"/>
                    <a:pt x="2221782" y="91835"/>
                  </a:cubicBezTo>
                  <a:lnTo>
                    <a:pt x="2221782" y="1963094"/>
                  </a:lnTo>
                  <a:cubicBezTo>
                    <a:pt x="2221782" y="1987450"/>
                    <a:pt x="2212107" y="2010808"/>
                    <a:pt x="2194885" y="2028030"/>
                  </a:cubicBezTo>
                  <a:cubicBezTo>
                    <a:pt x="2177662" y="2045253"/>
                    <a:pt x="2154304" y="2054928"/>
                    <a:pt x="2129948" y="2054928"/>
                  </a:cubicBezTo>
                  <a:lnTo>
                    <a:pt x="91835" y="2054928"/>
                  </a:lnTo>
                  <a:cubicBezTo>
                    <a:pt x="41116" y="2054928"/>
                    <a:pt x="0" y="2013813"/>
                    <a:pt x="0" y="1963094"/>
                  </a:cubicBezTo>
                  <a:lnTo>
                    <a:pt x="0" y="91835"/>
                  </a:lnTo>
                  <a:cubicBezTo>
                    <a:pt x="0" y="67479"/>
                    <a:pt x="9675" y="44120"/>
                    <a:pt x="26898" y="26898"/>
                  </a:cubicBezTo>
                  <a:cubicBezTo>
                    <a:pt x="44120" y="9675"/>
                    <a:pt x="67479" y="0"/>
                    <a:pt x="91835" y="0"/>
                  </a:cubicBezTo>
                  <a:close/>
                </a:path>
              </a:pathLst>
            </a:custGeom>
            <a:ln w="1905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221782" cy="20930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3370311" y="1436060"/>
            <a:ext cx="5774612" cy="726295"/>
            <a:chOff x="0" y="0"/>
            <a:chExt cx="1521886" cy="19141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521886" cy="191414"/>
            </a:xfrm>
            <a:custGeom>
              <a:avLst/>
              <a:gdLst/>
              <a:ahLst/>
              <a:cxnLst/>
              <a:rect r="r" b="b" t="t" l="l"/>
              <a:pathLst>
                <a:path h="191414" w="1521886">
                  <a:moveTo>
                    <a:pt x="95707" y="0"/>
                  </a:moveTo>
                  <a:lnTo>
                    <a:pt x="1426180" y="0"/>
                  </a:lnTo>
                  <a:cubicBezTo>
                    <a:pt x="1451563" y="0"/>
                    <a:pt x="1475906" y="10083"/>
                    <a:pt x="1493855" y="28032"/>
                  </a:cubicBezTo>
                  <a:cubicBezTo>
                    <a:pt x="1511803" y="45980"/>
                    <a:pt x="1521886" y="70324"/>
                    <a:pt x="1521886" y="95707"/>
                  </a:cubicBezTo>
                  <a:lnTo>
                    <a:pt x="1521886" y="95707"/>
                  </a:lnTo>
                  <a:cubicBezTo>
                    <a:pt x="1521886" y="121090"/>
                    <a:pt x="1511803" y="145433"/>
                    <a:pt x="1493855" y="163382"/>
                  </a:cubicBezTo>
                  <a:cubicBezTo>
                    <a:pt x="1475906" y="181330"/>
                    <a:pt x="1451563" y="191414"/>
                    <a:pt x="1426180" y="191414"/>
                  </a:cubicBezTo>
                  <a:lnTo>
                    <a:pt x="95707" y="191414"/>
                  </a:lnTo>
                  <a:cubicBezTo>
                    <a:pt x="70324" y="191414"/>
                    <a:pt x="45980" y="181330"/>
                    <a:pt x="28032" y="163382"/>
                  </a:cubicBezTo>
                  <a:cubicBezTo>
                    <a:pt x="10083" y="145433"/>
                    <a:pt x="0" y="121090"/>
                    <a:pt x="0" y="95707"/>
                  </a:cubicBezTo>
                  <a:lnTo>
                    <a:pt x="0" y="95707"/>
                  </a:lnTo>
                  <a:cubicBezTo>
                    <a:pt x="0" y="70324"/>
                    <a:pt x="10083" y="45980"/>
                    <a:pt x="28032" y="28032"/>
                  </a:cubicBezTo>
                  <a:cubicBezTo>
                    <a:pt x="45980" y="10083"/>
                    <a:pt x="70324" y="0"/>
                    <a:pt x="95707" y="0"/>
                  </a:cubicBezTo>
                  <a:close/>
                </a:path>
              </a:pathLst>
            </a:custGeom>
            <a:solidFill>
              <a:srgbClr val="CCEBF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521886" cy="22951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2124772" y="1412247"/>
            <a:ext cx="717393" cy="773920"/>
            <a:chOff x="0" y="0"/>
            <a:chExt cx="753433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53433" cy="812800"/>
            </a:xfrm>
            <a:custGeom>
              <a:avLst/>
              <a:gdLst/>
              <a:ahLst/>
              <a:cxnLst/>
              <a:rect r="r" b="b" t="t" l="l"/>
              <a:pathLst>
                <a:path h="812800" w="753433">
                  <a:moveTo>
                    <a:pt x="376717" y="0"/>
                  </a:moveTo>
                  <a:cubicBezTo>
                    <a:pt x="168662" y="0"/>
                    <a:pt x="0" y="181951"/>
                    <a:pt x="0" y="406400"/>
                  </a:cubicBezTo>
                  <a:cubicBezTo>
                    <a:pt x="0" y="630849"/>
                    <a:pt x="168662" y="812800"/>
                    <a:pt x="376717" y="812800"/>
                  </a:cubicBezTo>
                  <a:cubicBezTo>
                    <a:pt x="584771" y="812800"/>
                    <a:pt x="753433" y="630849"/>
                    <a:pt x="753433" y="406400"/>
                  </a:cubicBezTo>
                  <a:cubicBezTo>
                    <a:pt x="753433" y="181951"/>
                    <a:pt x="584771" y="0"/>
                    <a:pt x="376717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70634" y="9525"/>
              <a:ext cx="612164" cy="727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40"/>
                </a:lnSpc>
              </a:pPr>
              <a:r>
                <a:rPr lang="en-US" sz="1600">
                  <a:solidFill>
                    <a:srgbClr val="1D3163"/>
                  </a:solidFill>
                  <a:latin typeface="Bungee"/>
                  <a:ea typeface="Bungee"/>
                  <a:cs typeface="Bungee"/>
                  <a:sym typeface="Bungee"/>
                </a:rPr>
                <a:t>1</a:t>
              </a: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3742509" y="1592786"/>
            <a:ext cx="4680974" cy="828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37"/>
              </a:lnSpc>
            </a:pPr>
            <a:r>
              <a:rPr lang="en-US" sz="2698" b="true">
                <a:solidFill>
                  <a:srgbClr val="1D3163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Introduction et Contexte</a:t>
            </a:r>
          </a:p>
          <a:p>
            <a:pPr algn="l">
              <a:lnSpc>
                <a:spcPts val="3237"/>
              </a:lnSpc>
            </a:pPr>
          </a:p>
        </p:txBody>
      </p:sp>
      <p:sp>
        <p:nvSpPr>
          <p:cNvPr name="AutoShape 12" id="12"/>
          <p:cNvSpPr/>
          <p:nvPr/>
        </p:nvSpPr>
        <p:spPr>
          <a:xfrm>
            <a:off x="2730318" y="1807099"/>
            <a:ext cx="639993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3" id="13"/>
          <p:cNvGrpSpPr/>
          <p:nvPr/>
        </p:nvGrpSpPr>
        <p:grpSpPr>
          <a:xfrm rot="0">
            <a:off x="3370311" y="2391788"/>
            <a:ext cx="5774612" cy="726295"/>
            <a:chOff x="0" y="0"/>
            <a:chExt cx="1521886" cy="191414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521886" cy="191414"/>
            </a:xfrm>
            <a:custGeom>
              <a:avLst/>
              <a:gdLst/>
              <a:ahLst/>
              <a:cxnLst/>
              <a:rect r="r" b="b" t="t" l="l"/>
              <a:pathLst>
                <a:path h="191414" w="1521886">
                  <a:moveTo>
                    <a:pt x="95707" y="0"/>
                  </a:moveTo>
                  <a:lnTo>
                    <a:pt x="1426180" y="0"/>
                  </a:lnTo>
                  <a:cubicBezTo>
                    <a:pt x="1451563" y="0"/>
                    <a:pt x="1475906" y="10083"/>
                    <a:pt x="1493855" y="28032"/>
                  </a:cubicBezTo>
                  <a:cubicBezTo>
                    <a:pt x="1511803" y="45980"/>
                    <a:pt x="1521886" y="70324"/>
                    <a:pt x="1521886" y="95707"/>
                  </a:cubicBezTo>
                  <a:lnTo>
                    <a:pt x="1521886" y="95707"/>
                  </a:lnTo>
                  <a:cubicBezTo>
                    <a:pt x="1521886" y="121090"/>
                    <a:pt x="1511803" y="145433"/>
                    <a:pt x="1493855" y="163382"/>
                  </a:cubicBezTo>
                  <a:cubicBezTo>
                    <a:pt x="1475906" y="181330"/>
                    <a:pt x="1451563" y="191414"/>
                    <a:pt x="1426180" y="191414"/>
                  </a:cubicBezTo>
                  <a:lnTo>
                    <a:pt x="95707" y="191414"/>
                  </a:lnTo>
                  <a:cubicBezTo>
                    <a:pt x="70324" y="191414"/>
                    <a:pt x="45980" y="181330"/>
                    <a:pt x="28032" y="163382"/>
                  </a:cubicBezTo>
                  <a:cubicBezTo>
                    <a:pt x="10083" y="145433"/>
                    <a:pt x="0" y="121090"/>
                    <a:pt x="0" y="95707"/>
                  </a:cubicBezTo>
                  <a:lnTo>
                    <a:pt x="0" y="95707"/>
                  </a:lnTo>
                  <a:cubicBezTo>
                    <a:pt x="0" y="70324"/>
                    <a:pt x="10083" y="45980"/>
                    <a:pt x="28032" y="28032"/>
                  </a:cubicBezTo>
                  <a:cubicBezTo>
                    <a:pt x="45980" y="10083"/>
                    <a:pt x="70324" y="0"/>
                    <a:pt x="95707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1521886" cy="22951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2124772" y="2367976"/>
            <a:ext cx="717393" cy="773920"/>
            <a:chOff x="0" y="0"/>
            <a:chExt cx="753433" cy="8128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753433" cy="812800"/>
            </a:xfrm>
            <a:custGeom>
              <a:avLst/>
              <a:gdLst/>
              <a:ahLst/>
              <a:cxnLst/>
              <a:rect r="r" b="b" t="t" l="l"/>
              <a:pathLst>
                <a:path h="812800" w="753433">
                  <a:moveTo>
                    <a:pt x="376717" y="0"/>
                  </a:moveTo>
                  <a:cubicBezTo>
                    <a:pt x="168662" y="0"/>
                    <a:pt x="0" y="181951"/>
                    <a:pt x="0" y="406400"/>
                  </a:cubicBezTo>
                  <a:cubicBezTo>
                    <a:pt x="0" y="630849"/>
                    <a:pt x="168662" y="812800"/>
                    <a:pt x="376717" y="812800"/>
                  </a:cubicBezTo>
                  <a:cubicBezTo>
                    <a:pt x="584771" y="812800"/>
                    <a:pt x="753433" y="630849"/>
                    <a:pt x="753433" y="406400"/>
                  </a:cubicBezTo>
                  <a:cubicBezTo>
                    <a:pt x="753433" y="181951"/>
                    <a:pt x="584771" y="0"/>
                    <a:pt x="376717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70634" y="9525"/>
              <a:ext cx="612164" cy="727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40"/>
                </a:lnSpc>
              </a:pPr>
              <a:r>
                <a:rPr lang="en-US" sz="1600">
                  <a:solidFill>
                    <a:srgbClr val="1D3163"/>
                  </a:solidFill>
                  <a:latin typeface="Bungee"/>
                  <a:ea typeface="Bungee"/>
                  <a:cs typeface="Bungee"/>
                  <a:sym typeface="Bungee"/>
                </a:rPr>
                <a:t>2</a:t>
              </a: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3684703" y="2558040"/>
            <a:ext cx="5331977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7"/>
              </a:lnSpc>
            </a:pPr>
            <a:r>
              <a:rPr lang="en-US" sz="2198" b="true">
                <a:solidFill>
                  <a:srgbClr val="1D3163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Choix et Démarche Méthodologique</a:t>
            </a:r>
          </a:p>
        </p:txBody>
      </p:sp>
      <p:sp>
        <p:nvSpPr>
          <p:cNvPr name="AutoShape 20" id="20"/>
          <p:cNvSpPr/>
          <p:nvPr/>
        </p:nvSpPr>
        <p:spPr>
          <a:xfrm>
            <a:off x="2730318" y="2762827"/>
            <a:ext cx="639993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1" id="21"/>
          <p:cNvGrpSpPr/>
          <p:nvPr/>
        </p:nvGrpSpPr>
        <p:grpSpPr>
          <a:xfrm rot="0">
            <a:off x="3370311" y="3485208"/>
            <a:ext cx="5774612" cy="726295"/>
            <a:chOff x="0" y="0"/>
            <a:chExt cx="1521886" cy="191414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521886" cy="191414"/>
            </a:xfrm>
            <a:custGeom>
              <a:avLst/>
              <a:gdLst/>
              <a:ahLst/>
              <a:cxnLst/>
              <a:rect r="r" b="b" t="t" l="l"/>
              <a:pathLst>
                <a:path h="191414" w="1521886">
                  <a:moveTo>
                    <a:pt x="95707" y="0"/>
                  </a:moveTo>
                  <a:lnTo>
                    <a:pt x="1426180" y="0"/>
                  </a:lnTo>
                  <a:cubicBezTo>
                    <a:pt x="1451563" y="0"/>
                    <a:pt x="1475906" y="10083"/>
                    <a:pt x="1493855" y="28032"/>
                  </a:cubicBezTo>
                  <a:cubicBezTo>
                    <a:pt x="1511803" y="45980"/>
                    <a:pt x="1521886" y="70324"/>
                    <a:pt x="1521886" y="95707"/>
                  </a:cubicBezTo>
                  <a:lnTo>
                    <a:pt x="1521886" y="95707"/>
                  </a:lnTo>
                  <a:cubicBezTo>
                    <a:pt x="1521886" y="121090"/>
                    <a:pt x="1511803" y="145433"/>
                    <a:pt x="1493855" y="163382"/>
                  </a:cubicBezTo>
                  <a:cubicBezTo>
                    <a:pt x="1475906" y="181330"/>
                    <a:pt x="1451563" y="191414"/>
                    <a:pt x="1426180" y="191414"/>
                  </a:cubicBezTo>
                  <a:lnTo>
                    <a:pt x="95707" y="191414"/>
                  </a:lnTo>
                  <a:cubicBezTo>
                    <a:pt x="70324" y="191414"/>
                    <a:pt x="45980" y="181330"/>
                    <a:pt x="28032" y="163382"/>
                  </a:cubicBezTo>
                  <a:cubicBezTo>
                    <a:pt x="10083" y="145433"/>
                    <a:pt x="0" y="121090"/>
                    <a:pt x="0" y="95707"/>
                  </a:cubicBezTo>
                  <a:lnTo>
                    <a:pt x="0" y="95707"/>
                  </a:lnTo>
                  <a:cubicBezTo>
                    <a:pt x="0" y="70324"/>
                    <a:pt x="10083" y="45980"/>
                    <a:pt x="28032" y="28032"/>
                  </a:cubicBezTo>
                  <a:cubicBezTo>
                    <a:pt x="45980" y="10083"/>
                    <a:pt x="70324" y="0"/>
                    <a:pt x="95707" y="0"/>
                  </a:cubicBezTo>
                  <a:close/>
                </a:path>
              </a:pathLst>
            </a:custGeom>
            <a:solidFill>
              <a:srgbClr val="CCEBFF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38100"/>
              <a:ext cx="1521886" cy="22951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2124772" y="3461395"/>
            <a:ext cx="717393" cy="773920"/>
            <a:chOff x="0" y="0"/>
            <a:chExt cx="753433" cy="8128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753433" cy="812800"/>
            </a:xfrm>
            <a:custGeom>
              <a:avLst/>
              <a:gdLst/>
              <a:ahLst/>
              <a:cxnLst/>
              <a:rect r="r" b="b" t="t" l="l"/>
              <a:pathLst>
                <a:path h="812800" w="753433">
                  <a:moveTo>
                    <a:pt x="376717" y="0"/>
                  </a:moveTo>
                  <a:cubicBezTo>
                    <a:pt x="168662" y="0"/>
                    <a:pt x="0" y="181951"/>
                    <a:pt x="0" y="406400"/>
                  </a:cubicBezTo>
                  <a:cubicBezTo>
                    <a:pt x="0" y="630849"/>
                    <a:pt x="168662" y="812800"/>
                    <a:pt x="376717" y="812800"/>
                  </a:cubicBezTo>
                  <a:cubicBezTo>
                    <a:pt x="584771" y="812800"/>
                    <a:pt x="753433" y="630849"/>
                    <a:pt x="753433" y="406400"/>
                  </a:cubicBezTo>
                  <a:cubicBezTo>
                    <a:pt x="753433" y="181951"/>
                    <a:pt x="584771" y="0"/>
                    <a:pt x="376717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70634" y="9525"/>
              <a:ext cx="612164" cy="727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40"/>
                </a:lnSpc>
              </a:pPr>
              <a:r>
                <a:rPr lang="en-US" sz="1600">
                  <a:solidFill>
                    <a:srgbClr val="1D3163"/>
                  </a:solidFill>
                  <a:latin typeface="Bungee"/>
                  <a:ea typeface="Bungee"/>
                  <a:cs typeface="Bungee"/>
                  <a:sym typeface="Bungee"/>
                </a:rPr>
                <a:t>3</a:t>
              </a:r>
            </a:p>
          </p:txBody>
        </p:sp>
      </p:grpSp>
      <p:sp>
        <p:nvSpPr>
          <p:cNvPr name="TextBox 27" id="27"/>
          <p:cNvSpPr txBox="true"/>
          <p:nvPr/>
        </p:nvSpPr>
        <p:spPr>
          <a:xfrm rot="0">
            <a:off x="3684703" y="3661009"/>
            <a:ext cx="5716461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7"/>
              </a:lnSpc>
            </a:pPr>
            <a:r>
              <a:rPr lang="en-US" sz="2198" b="true">
                <a:solidFill>
                  <a:srgbClr val="1D3163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Modélisation et Comparaison</a:t>
            </a:r>
          </a:p>
        </p:txBody>
      </p:sp>
      <p:sp>
        <p:nvSpPr>
          <p:cNvPr name="AutoShape 28" id="28"/>
          <p:cNvSpPr/>
          <p:nvPr/>
        </p:nvSpPr>
        <p:spPr>
          <a:xfrm>
            <a:off x="2730318" y="3856247"/>
            <a:ext cx="639993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9" id="29"/>
          <p:cNvGrpSpPr/>
          <p:nvPr/>
        </p:nvGrpSpPr>
        <p:grpSpPr>
          <a:xfrm rot="0">
            <a:off x="3370311" y="4582978"/>
            <a:ext cx="5774612" cy="726295"/>
            <a:chOff x="0" y="0"/>
            <a:chExt cx="1521886" cy="191414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521886" cy="191414"/>
            </a:xfrm>
            <a:custGeom>
              <a:avLst/>
              <a:gdLst/>
              <a:ahLst/>
              <a:cxnLst/>
              <a:rect r="r" b="b" t="t" l="l"/>
              <a:pathLst>
                <a:path h="191414" w="1521886">
                  <a:moveTo>
                    <a:pt x="95707" y="0"/>
                  </a:moveTo>
                  <a:lnTo>
                    <a:pt x="1426180" y="0"/>
                  </a:lnTo>
                  <a:cubicBezTo>
                    <a:pt x="1451563" y="0"/>
                    <a:pt x="1475906" y="10083"/>
                    <a:pt x="1493855" y="28032"/>
                  </a:cubicBezTo>
                  <a:cubicBezTo>
                    <a:pt x="1511803" y="45980"/>
                    <a:pt x="1521886" y="70324"/>
                    <a:pt x="1521886" y="95707"/>
                  </a:cubicBezTo>
                  <a:lnTo>
                    <a:pt x="1521886" y="95707"/>
                  </a:lnTo>
                  <a:cubicBezTo>
                    <a:pt x="1521886" y="121090"/>
                    <a:pt x="1511803" y="145433"/>
                    <a:pt x="1493855" y="163382"/>
                  </a:cubicBezTo>
                  <a:cubicBezTo>
                    <a:pt x="1475906" y="181330"/>
                    <a:pt x="1451563" y="191414"/>
                    <a:pt x="1426180" y="191414"/>
                  </a:cubicBezTo>
                  <a:lnTo>
                    <a:pt x="95707" y="191414"/>
                  </a:lnTo>
                  <a:cubicBezTo>
                    <a:pt x="70324" y="191414"/>
                    <a:pt x="45980" y="181330"/>
                    <a:pt x="28032" y="163382"/>
                  </a:cubicBezTo>
                  <a:cubicBezTo>
                    <a:pt x="10083" y="145433"/>
                    <a:pt x="0" y="121090"/>
                    <a:pt x="0" y="95707"/>
                  </a:cubicBezTo>
                  <a:lnTo>
                    <a:pt x="0" y="95707"/>
                  </a:lnTo>
                  <a:cubicBezTo>
                    <a:pt x="0" y="70324"/>
                    <a:pt x="10083" y="45980"/>
                    <a:pt x="28032" y="28032"/>
                  </a:cubicBezTo>
                  <a:cubicBezTo>
                    <a:pt x="45980" y="10083"/>
                    <a:pt x="70324" y="0"/>
                    <a:pt x="95707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38100"/>
              <a:ext cx="1521886" cy="22951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2124772" y="4559166"/>
            <a:ext cx="717393" cy="773920"/>
            <a:chOff x="0" y="0"/>
            <a:chExt cx="753433" cy="8128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753433" cy="812800"/>
            </a:xfrm>
            <a:custGeom>
              <a:avLst/>
              <a:gdLst/>
              <a:ahLst/>
              <a:cxnLst/>
              <a:rect r="r" b="b" t="t" l="l"/>
              <a:pathLst>
                <a:path h="812800" w="753433">
                  <a:moveTo>
                    <a:pt x="376717" y="0"/>
                  </a:moveTo>
                  <a:cubicBezTo>
                    <a:pt x="168662" y="0"/>
                    <a:pt x="0" y="181951"/>
                    <a:pt x="0" y="406400"/>
                  </a:cubicBezTo>
                  <a:cubicBezTo>
                    <a:pt x="0" y="630849"/>
                    <a:pt x="168662" y="812800"/>
                    <a:pt x="376717" y="812800"/>
                  </a:cubicBezTo>
                  <a:cubicBezTo>
                    <a:pt x="584771" y="812800"/>
                    <a:pt x="753433" y="630849"/>
                    <a:pt x="753433" y="406400"/>
                  </a:cubicBezTo>
                  <a:cubicBezTo>
                    <a:pt x="753433" y="181951"/>
                    <a:pt x="584771" y="0"/>
                    <a:pt x="376717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34" id="34"/>
            <p:cNvSpPr txBox="true"/>
            <p:nvPr/>
          </p:nvSpPr>
          <p:spPr>
            <a:xfrm>
              <a:off x="70634" y="9525"/>
              <a:ext cx="612164" cy="727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40"/>
                </a:lnSpc>
              </a:pPr>
              <a:r>
                <a:rPr lang="en-US" sz="1600">
                  <a:solidFill>
                    <a:srgbClr val="1D3163"/>
                  </a:solidFill>
                  <a:latin typeface="Bungee"/>
                  <a:ea typeface="Bungee"/>
                  <a:cs typeface="Bungee"/>
                  <a:sym typeface="Bungee"/>
                </a:rPr>
                <a:t>4</a:t>
              </a:r>
            </a:p>
          </p:txBody>
        </p:sp>
      </p:grpSp>
      <p:sp>
        <p:nvSpPr>
          <p:cNvPr name="TextBox 35" id="35"/>
          <p:cNvSpPr txBox="true"/>
          <p:nvPr/>
        </p:nvSpPr>
        <p:spPr>
          <a:xfrm rot="0">
            <a:off x="3713934" y="4739705"/>
            <a:ext cx="4306454" cy="352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59"/>
              </a:lnSpc>
            </a:pPr>
            <a:r>
              <a:rPr lang="en-US" sz="2299" b="true">
                <a:solidFill>
                  <a:srgbClr val="1D3163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Modèle choisit</a:t>
            </a:r>
          </a:p>
        </p:txBody>
      </p:sp>
      <p:sp>
        <p:nvSpPr>
          <p:cNvPr name="AutoShape 36" id="36"/>
          <p:cNvSpPr/>
          <p:nvPr/>
        </p:nvSpPr>
        <p:spPr>
          <a:xfrm>
            <a:off x="2730318" y="4954017"/>
            <a:ext cx="639993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7" id="37"/>
          <p:cNvGrpSpPr/>
          <p:nvPr/>
        </p:nvGrpSpPr>
        <p:grpSpPr>
          <a:xfrm rot="0">
            <a:off x="3370311" y="5680748"/>
            <a:ext cx="5882693" cy="726295"/>
            <a:chOff x="0" y="0"/>
            <a:chExt cx="1550371" cy="191414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1550371" cy="191414"/>
            </a:xfrm>
            <a:custGeom>
              <a:avLst/>
              <a:gdLst/>
              <a:ahLst/>
              <a:cxnLst/>
              <a:rect r="r" b="b" t="t" l="l"/>
              <a:pathLst>
                <a:path h="191414" w="1550371">
                  <a:moveTo>
                    <a:pt x="95707" y="0"/>
                  </a:moveTo>
                  <a:lnTo>
                    <a:pt x="1454664" y="0"/>
                  </a:lnTo>
                  <a:cubicBezTo>
                    <a:pt x="1507521" y="0"/>
                    <a:pt x="1550371" y="42849"/>
                    <a:pt x="1550371" y="95707"/>
                  </a:cubicBezTo>
                  <a:lnTo>
                    <a:pt x="1550371" y="95707"/>
                  </a:lnTo>
                  <a:cubicBezTo>
                    <a:pt x="1550371" y="121090"/>
                    <a:pt x="1540287" y="145433"/>
                    <a:pt x="1522339" y="163382"/>
                  </a:cubicBezTo>
                  <a:cubicBezTo>
                    <a:pt x="1504391" y="181330"/>
                    <a:pt x="1480047" y="191414"/>
                    <a:pt x="1454664" y="191414"/>
                  </a:cubicBezTo>
                  <a:lnTo>
                    <a:pt x="95707" y="191414"/>
                  </a:lnTo>
                  <a:cubicBezTo>
                    <a:pt x="70324" y="191414"/>
                    <a:pt x="45980" y="181330"/>
                    <a:pt x="28032" y="163382"/>
                  </a:cubicBezTo>
                  <a:cubicBezTo>
                    <a:pt x="10083" y="145433"/>
                    <a:pt x="0" y="121090"/>
                    <a:pt x="0" y="95707"/>
                  </a:cubicBezTo>
                  <a:lnTo>
                    <a:pt x="0" y="95707"/>
                  </a:lnTo>
                  <a:cubicBezTo>
                    <a:pt x="0" y="70324"/>
                    <a:pt x="10083" y="45980"/>
                    <a:pt x="28032" y="28032"/>
                  </a:cubicBezTo>
                  <a:cubicBezTo>
                    <a:pt x="45980" y="10083"/>
                    <a:pt x="70324" y="0"/>
                    <a:pt x="95707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38100"/>
              <a:ext cx="1550371" cy="22951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2124772" y="5656936"/>
            <a:ext cx="717393" cy="773920"/>
            <a:chOff x="0" y="0"/>
            <a:chExt cx="753433" cy="81280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753433" cy="812800"/>
            </a:xfrm>
            <a:custGeom>
              <a:avLst/>
              <a:gdLst/>
              <a:ahLst/>
              <a:cxnLst/>
              <a:rect r="r" b="b" t="t" l="l"/>
              <a:pathLst>
                <a:path h="812800" w="753433">
                  <a:moveTo>
                    <a:pt x="376717" y="0"/>
                  </a:moveTo>
                  <a:cubicBezTo>
                    <a:pt x="168662" y="0"/>
                    <a:pt x="0" y="181951"/>
                    <a:pt x="0" y="406400"/>
                  </a:cubicBezTo>
                  <a:cubicBezTo>
                    <a:pt x="0" y="630849"/>
                    <a:pt x="168662" y="812800"/>
                    <a:pt x="376717" y="812800"/>
                  </a:cubicBezTo>
                  <a:cubicBezTo>
                    <a:pt x="584771" y="812800"/>
                    <a:pt x="753433" y="630849"/>
                    <a:pt x="753433" y="406400"/>
                  </a:cubicBezTo>
                  <a:cubicBezTo>
                    <a:pt x="753433" y="181951"/>
                    <a:pt x="584771" y="0"/>
                    <a:pt x="376717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2" id="42"/>
            <p:cNvSpPr txBox="true"/>
            <p:nvPr/>
          </p:nvSpPr>
          <p:spPr>
            <a:xfrm>
              <a:off x="70634" y="9525"/>
              <a:ext cx="612164" cy="727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40"/>
                </a:lnSpc>
              </a:pPr>
              <a:r>
                <a:rPr lang="en-US" sz="1600">
                  <a:solidFill>
                    <a:srgbClr val="1D3163"/>
                  </a:solidFill>
                  <a:latin typeface="Bungee"/>
                  <a:ea typeface="Bungee"/>
                  <a:cs typeface="Bungee"/>
                  <a:sym typeface="Bungee"/>
                </a:rPr>
                <a:t>5</a:t>
              </a:r>
            </a:p>
          </p:txBody>
        </p:sp>
      </p:grpSp>
      <p:sp>
        <p:nvSpPr>
          <p:cNvPr name="TextBox 43" id="43"/>
          <p:cNvSpPr txBox="true"/>
          <p:nvPr/>
        </p:nvSpPr>
        <p:spPr>
          <a:xfrm rot="0">
            <a:off x="3742509" y="5837475"/>
            <a:ext cx="4267147" cy="419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37"/>
              </a:lnSpc>
            </a:pPr>
            <a:r>
              <a:rPr lang="en-US" sz="2698" b="true">
                <a:solidFill>
                  <a:srgbClr val="1D3163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Application Développée</a:t>
            </a:r>
          </a:p>
        </p:txBody>
      </p:sp>
      <p:sp>
        <p:nvSpPr>
          <p:cNvPr name="AutoShape 44" id="44"/>
          <p:cNvSpPr/>
          <p:nvPr/>
        </p:nvSpPr>
        <p:spPr>
          <a:xfrm>
            <a:off x="2730318" y="6051787"/>
            <a:ext cx="639993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5" id="45"/>
          <p:cNvSpPr/>
          <p:nvPr/>
        </p:nvSpPr>
        <p:spPr>
          <a:xfrm flipH="false" flipV="false" rot="0">
            <a:off x="11044738" y="869677"/>
            <a:ext cx="7438912" cy="10452248"/>
          </a:xfrm>
          <a:custGeom>
            <a:avLst/>
            <a:gdLst/>
            <a:ahLst/>
            <a:cxnLst/>
            <a:rect r="r" b="b" t="t" l="l"/>
            <a:pathLst>
              <a:path h="10452248" w="7438912">
                <a:moveTo>
                  <a:pt x="0" y="0"/>
                </a:moveTo>
                <a:lnTo>
                  <a:pt x="7438913" y="0"/>
                </a:lnTo>
                <a:lnTo>
                  <a:pt x="7438913" y="10452247"/>
                </a:lnTo>
                <a:lnTo>
                  <a:pt x="0" y="1045224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0507" t="0" r="0" b="0"/>
            </a:stretch>
          </a:blipFill>
        </p:spPr>
      </p:sp>
      <p:sp>
        <p:nvSpPr>
          <p:cNvPr name="Freeform 46" id="46"/>
          <p:cNvSpPr/>
          <p:nvPr/>
        </p:nvSpPr>
        <p:spPr>
          <a:xfrm flipH="false" flipV="false" rot="0">
            <a:off x="783238" y="7565437"/>
            <a:ext cx="2184172" cy="3013811"/>
          </a:xfrm>
          <a:custGeom>
            <a:avLst/>
            <a:gdLst/>
            <a:ahLst/>
            <a:cxnLst/>
            <a:rect r="r" b="b" t="t" l="l"/>
            <a:pathLst>
              <a:path h="3013811" w="2184172">
                <a:moveTo>
                  <a:pt x="0" y="0"/>
                </a:moveTo>
                <a:lnTo>
                  <a:pt x="2184173" y="0"/>
                </a:lnTo>
                <a:lnTo>
                  <a:pt x="2184173" y="3013810"/>
                </a:lnTo>
                <a:lnTo>
                  <a:pt x="0" y="301381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73984" r="-140071" b="0"/>
            </a:stretch>
          </a:blipFill>
        </p:spPr>
      </p:sp>
      <p:sp>
        <p:nvSpPr>
          <p:cNvPr name="TextBox 47" id="47"/>
          <p:cNvSpPr txBox="true"/>
          <p:nvPr/>
        </p:nvSpPr>
        <p:spPr>
          <a:xfrm rot="0">
            <a:off x="6913585" y="888727"/>
            <a:ext cx="12287011" cy="21171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342"/>
              </a:lnSpc>
            </a:pPr>
            <a:r>
              <a:rPr lang="en-US" sz="14824">
                <a:solidFill>
                  <a:srgbClr val="FFFFFF"/>
                </a:solidFill>
                <a:latin typeface="Bungee"/>
                <a:ea typeface="Bungee"/>
                <a:cs typeface="Bungee"/>
                <a:sym typeface="Bungee"/>
              </a:rPr>
              <a:t>PLAN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-524871" y="9504994"/>
            <a:ext cx="2284068" cy="3993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80"/>
              </a:lnSpc>
            </a:pPr>
            <a:r>
              <a:rPr lang="en-US" sz="2755">
                <a:solidFill>
                  <a:srgbClr val="FFFFFF"/>
                </a:solidFill>
                <a:latin typeface="Bungee"/>
                <a:ea typeface="Bungee"/>
                <a:cs typeface="Bungee"/>
                <a:sym typeface="Bungee"/>
              </a:rPr>
              <a:t>2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12699491" y="2068669"/>
            <a:ext cx="2007045" cy="15215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464"/>
              </a:lnSpc>
            </a:pPr>
            <a:r>
              <a:rPr lang="en-US" sz="8903">
                <a:solidFill>
                  <a:srgbClr val="9AB7FF"/>
                </a:solidFill>
                <a:latin typeface="Brittany"/>
                <a:ea typeface="Brittany"/>
                <a:cs typeface="Brittany"/>
                <a:sym typeface="Brittany"/>
              </a:rPr>
              <a:t>Plan</a:t>
            </a:r>
          </a:p>
        </p:txBody>
      </p:sp>
      <p:grpSp>
        <p:nvGrpSpPr>
          <p:cNvPr name="Group 50" id="50"/>
          <p:cNvGrpSpPr/>
          <p:nvPr/>
        </p:nvGrpSpPr>
        <p:grpSpPr>
          <a:xfrm rot="0">
            <a:off x="3370311" y="6653997"/>
            <a:ext cx="5882693" cy="726295"/>
            <a:chOff x="0" y="0"/>
            <a:chExt cx="1550371" cy="191414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1550371" cy="191414"/>
            </a:xfrm>
            <a:custGeom>
              <a:avLst/>
              <a:gdLst/>
              <a:ahLst/>
              <a:cxnLst/>
              <a:rect r="r" b="b" t="t" l="l"/>
              <a:pathLst>
                <a:path h="191414" w="1550371">
                  <a:moveTo>
                    <a:pt x="95707" y="0"/>
                  </a:moveTo>
                  <a:lnTo>
                    <a:pt x="1454664" y="0"/>
                  </a:lnTo>
                  <a:cubicBezTo>
                    <a:pt x="1507521" y="0"/>
                    <a:pt x="1550371" y="42849"/>
                    <a:pt x="1550371" y="95707"/>
                  </a:cubicBezTo>
                  <a:lnTo>
                    <a:pt x="1550371" y="95707"/>
                  </a:lnTo>
                  <a:cubicBezTo>
                    <a:pt x="1550371" y="121090"/>
                    <a:pt x="1540287" y="145433"/>
                    <a:pt x="1522339" y="163382"/>
                  </a:cubicBezTo>
                  <a:cubicBezTo>
                    <a:pt x="1504391" y="181330"/>
                    <a:pt x="1480047" y="191414"/>
                    <a:pt x="1454664" y="191414"/>
                  </a:cubicBezTo>
                  <a:lnTo>
                    <a:pt x="95707" y="191414"/>
                  </a:lnTo>
                  <a:cubicBezTo>
                    <a:pt x="70324" y="191414"/>
                    <a:pt x="45980" y="181330"/>
                    <a:pt x="28032" y="163382"/>
                  </a:cubicBezTo>
                  <a:cubicBezTo>
                    <a:pt x="10083" y="145433"/>
                    <a:pt x="0" y="121090"/>
                    <a:pt x="0" y="95707"/>
                  </a:cubicBezTo>
                  <a:lnTo>
                    <a:pt x="0" y="95707"/>
                  </a:lnTo>
                  <a:cubicBezTo>
                    <a:pt x="0" y="70324"/>
                    <a:pt x="10083" y="45980"/>
                    <a:pt x="28032" y="28032"/>
                  </a:cubicBezTo>
                  <a:cubicBezTo>
                    <a:pt x="45980" y="10083"/>
                    <a:pt x="70324" y="0"/>
                    <a:pt x="95707" y="0"/>
                  </a:cubicBezTo>
                  <a:close/>
                </a:path>
              </a:pathLst>
            </a:custGeom>
            <a:solidFill>
              <a:srgbClr val="CCEBFF"/>
            </a:solid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38100"/>
              <a:ext cx="1550371" cy="22951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2124772" y="6630185"/>
            <a:ext cx="717393" cy="773920"/>
            <a:chOff x="0" y="0"/>
            <a:chExt cx="753433" cy="81280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753433" cy="812800"/>
            </a:xfrm>
            <a:custGeom>
              <a:avLst/>
              <a:gdLst/>
              <a:ahLst/>
              <a:cxnLst/>
              <a:rect r="r" b="b" t="t" l="l"/>
              <a:pathLst>
                <a:path h="812800" w="753433">
                  <a:moveTo>
                    <a:pt x="376717" y="0"/>
                  </a:moveTo>
                  <a:cubicBezTo>
                    <a:pt x="168662" y="0"/>
                    <a:pt x="0" y="181951"/>
                    <a:pt x="0" y="406400"/>
                  </a:cubicBezTo>
                  <a:cubicBezTo>
                    <a:pt x="0" y="630849"/>
                    <a:pt x="168662" y="812800"/>
                    <a:pt x="376717" y="812800"/>
                  </a:cubicBezTo>
                  <a:cubicBezTo>
                    <a:pt x="584771" y="812800"/>
                    <a:pt x="753433" y="630849"/>
                    <a:pt x="753433" y="406400"/>
                  </a:cubicBezTo>
                  <a:cubicBezTo>
                    <a:pt x="753433" y="181951"/>
                    <a:pt x="584771" y="0"/>
                    <a:pt x="376717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55" id="55"/>
            <p:cNvSpPr txBox="true"/>
            <p:nvPr/>
          </p:nvSpPr>
          <p:spPr>
            <a:xfrm>
              <a:off x="70634" y="9525"/>
              <a:ext cx="612164" cy="727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40"/>
                </a:lnSpc>
              </a:pPr>
              <a:r>
                <a:rPr lang="en-US" sz="1600">
                  <a:solidFill>
                    <a:srgbClr val="1D3163"/>
                  </a:solidFill>
                  <a:latin typeface="Bungee"/>
                  <a:ea typeface="Bungee"/>
                  <a:cs typeface="Bungee"/>
                  <a:sym typeface="Bungee"/>
                </a:rPr>
                <a:t>6</a:t>
              </a:r>
            </a:p>
          </p:txBody>
        </p:sp>
      </p:grpSp>
      <p:sp>
        <p:nvSpPr>
          <p:cNvPr name="TextBox 56" id="56"/>
          <p:cNvSpPr txBox="true"/>
          <p:nvPr/>
        </p:nvSpPr>
        <p:spPr>
          <a:xfrm rot="0">
            <a:off x="3742509" y="6810724"/>
            <a:ext cx="5100019" cy="828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37"/>
              </a:lnSpc>
            </a:pPr>
            <a:r>
              <a:rPr lang="en-US" sz="2698" b="true">
                <a:solidFill>
                  <a:srgbClr val="1D3163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Conclusion et Perspectives</a:t>
            </a:r>
          </a:p>
          <a:p>
            <a:pPr algn="l">
              <a:lnSpc>
                <a:spcPts val="3237"/>
              </a:lnSpc>
            </a:pPr>
          </a:p>
        </p:txBody>
      </p:sp>
      <p:sp>
        <p:nvSpPr>
          <p:cNvPr name="AutoShape 57" id="57"/>
          <p:cNvSpPr/>
          <p:nvPr/>
        </p:nvSpPr>
        <p:spPr>
          <a:xfrm>
            <a:off x="2730318" y="7025036"/>
            <a:ext cx="639993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C367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595468" y="1394844"/>
            <a:ext cx="1318500" cy="1969385"/>
            <a:chOff x="0" y="0"/>
            <a:chExt cx="544168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44168" cy="812800"/>
            </a:xfrm>
            <a:custGeom>
              <a:avLst/>
              <a:gdLst/>
              <a:ahLst/>
              <a:cxnLst/>
              <a:rect r="r" b="b" t="t" l="l"/>
              <a:pathLst>
                <a:path h="812800" w="544168">
                  <a:moveTo>
                    <a:pt x="272084" y="0"/>
                  </a:moveTo>
                  <a:cubicBezTo>
                    <a:pt x="121816" y="0"/>
                    <a:pt x="0" y="181951"/>
                    <a:pt x="0" y="406400"/>
                  </a:cubicBezTo>
                  <a:cubicBezTo>
                    <a:pt x="0" y="630849"/>
                    <a:pt x="121816" y="812800"/>
                    <a:pt x="272084" y="812800"/>
                  </a:cubicBezTo>
                  <a:cubicBezTo>
                    <a:pt x="422352" y="812800"/>
                    <a:pt x="544168" y="630849"/>
                    <a:pt x="544168" y="406400"/>
                  </a:cubicBezTo>
                  <a:cubicBezTo>
                    <a:pt x="544168" y="181951"/>
                    <a:pt x="422352" y="0"/>
                    <a:pt x="272084" y="0"/>
                  </a:cubicBezTo>
                  <a:close/>
                </a:path>
              </a:pathLst>
            </a:custGeom>
            <a:solidFill>
              <a:srgbClr val="1C3675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51016" y="38100"/>
              <a:ext cx="442137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428066" y="3141108"/>
            <a:ext cx="17431867" cy="5889753"/>
            <a:chOff x="0" y="0"/>
            <a:chExt cx="4413726" cy="149127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413726" cy="1491278"/>
            </a:xfrm>
            <a:custGeom>
              <a:avLst/>
              <a:gdLst/>
              <a:ahLst/>
              <a:cxnLst/>
              <a:rect r="r" b="b" t="t" l="l"/>
              <a:pathLst>
                <a:path h="1491278" w="4413726">
                  <a:moveTo>
                    <a:pt x="35530" y="0"/>
                  </a:moveTo>
                  <a:lnTo>
                    <a:pt x="4378196" y="0"/>
                  </a:lnTo>
                  <a:cubicBezTo>
                    <a:pt x="4397819" y="0"/>
                    <a:pt x="4413726" y="15907"/>
                    <a:pt x="4413726" y="35530"/>
                  </a:cubicBezTo>
                  <a:lnTo>
                    <a:pt x="4413726" y="1455748"/>
                  </a:lnTo>
                  <a:cubicBezTo>
                    <a:pt x="4413726" y="1475371"/>
                    <a:pt x="4397819" y="1491278"/>
                    <a:pt x="4378196" y="1491278"/>
                  </a:cubicBezTo>
                  <a:lnTo>
                    <a:pt x="35530" y="1491278"/>
                  </a:lnTo>
                  <a:cubicBezTo>
                    <a:pt x="15907" y="1491278"/>
                    <a:pt x="0" y="1475371"/>
                    <a:pt x="0" y="1455748"/>
                  </a:cubicBezTo>
                  <a:lnTo>
                    <a:pt x="0" y="35530"/>
                  </a:lnTo>
                  <a:cubicBezTo>
                    <a:pt x="0" y="15907"/>
                    <a:pt x="15907" y="0"/>
                    <a:pt x="35530" y="0"/>
                  </a:cubicBezTo>
                  <a:close/>
                </a:path>
              </a:pathLst>
            </a:custGeom>
            <a:solidFill>
              <a:srgbClr val="1D3163"/>
            </a:solidFill>
            <a:ln w="19050" cap="rnd">
              <a:solidFill>
                <a:srgbClr val="CCEBFF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4413726" cy="15293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057275" y="3364229"/>
            <a:ext cx="15959684" cy="1282252"/>
            <a:chOff x="0" y="0"/>
            <a:chExt cx="4040971" cy="32466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040971" cy="324665"/>
            </a:xfrm>
            <a:custGeom>
              <a:avLst/>
              <a:gdLst/>
              <a:ahLst/>
              <a:cxnLst/>
              <a:rect r="r" b="b" t="t" l="l"/>
              <a:pathLst>
                <a:path h="324665" w="4040971">
                  <a:moveTo>
                    <a:pt x="38807" y="0"/>
                  </a:moveTo>
                  <a:lnTo>
                    <a:pt x="4002164" y="0"/>
                  </a:lnTo>
                  <a:cubicBezTo>
                    <a:pt x="4023597" y="0"/>
                    <a:pt x="4040971" y="17375"/>
                    <a:pt x="4040971" y="38807"/>
                  </a:cubicBezTo>
                  <a:lnTo>
                    <a:pt x="4040971" y="285857"/>
                  </a:lnTo>
                  <a:cubicBezTo>
                    <a:pt x="4040971" y="307290"/>
                    <a:pt x="4023597" y="324665"/>
                    <a:pt x="4002164" y="324665"/>
                  </a:cubicBezTo>
                  <a:lnTo>
                    <a:pt x="38807" y="324665"/>
                  </a:lnTo>
                  <a:cubicBezTo>
                    <a:pt x="28515" y="324665"/>
                    <a:pt x="18644" y="320576"/>
                    <a:pt x="11366" y="313298"/>
                  </a:cubicBezTo>
                  <a:cubicBezTo>
                    <a:pt x="4089" y="306020"/>
                    <a:pt x="0" y="296150"/>
                    <a:pt x="0" y="285857"/>
                  </a:cubicBezTo>
                  <a:lnTo>
                    <a:pt x="0" y="38807"/>
                  </a:lnTo>
                  <a:cubicBezTo>
                    <a:pt x="0" y="28515"/>
                    <a:pt x="4089" y="18644"/>
                    <a:pt x="11366" y="11366"/>
                  </a:cubicBezTo>
                  <a:cubicBezTo>
                    <a:pt x="18644" y="4089"/>
                    <a:pt x="28515" y="0"/>
                    <a:pt x="38807" y="0"/>
                  </a:cubicBezTo>
                  <a:close/>
                </a:path>
              </a:pathLst>
            </a:custGeom>
            <a:solidFill>
              <a:srgbClr val="1C3675"/>
            </a:solidFill>
            <a:ln w="19050" cap="rnd">
              <a:solidFill>
                <a:srgbClr val="CCEBFF"/>
              </a:solidFill>
              <a:prstDash val="solid"/>
              <a:round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4040971" cy="3627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1214845" y="3566863"/>
            <a:ext cx="819833" cy="819833"/>
          </a:xfrm>
          <a:custGeom>
            <a:avLst/>
            <a:gdLst/>
            <a:ahLst/>
            <a:cxnLst/>
            <a:rect r="r" b="b" t="t" l="l"/>
            <a:pathLst>
              <a:path h="819833" w="819833">
                <a:moveTo>
                  <a:pt x="0" y="0"/>
                </a:moveTo>
                <a:lnTo>
                  <a:pt x="819834" y="0"/>
                </a:lnTo>
                <a:lnTo>
                  <a:pt x="819834" y="819834"/>
                </a:lnTo>
                <a:lnTo>
                  <a:pt x="0" y="8198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1057275" y="4941756"/>
            <a:ext cx="15959684" cy="1025152"/>
            <a:chOff x="0" y="0"/>
            <a:chExt cx="4040971" cy="259567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040971" cy="259567"/>
            </a:xfrm>
            <a:custGeom>
              <a:avLst/>
              <a:gdLst/>
              <a:ahLst/>
              <a:cxnLst/>
              <a:rect r="r" b="b" t="t" l="l"/>
              <a:pathLst>
                <a:path h="259567" w="4040971">
                  <a:moveTo>
                    <a:pt x="38807" y="0"/>
                  </a:moveTo>
                  <a:lnTo>
                    <a:pt x="4002164" y="0"/>
                  </a:lnTo>
                  <a:cubicBezTo>
                    <a:pt x="4023597" y="0"/>
                    <a:pt x="4040971" y="17375"/>
                    <a:pt x="4040971" y="38807"/>
                  </a:cubicBezTo>
                  <a:lnTo>
                    <a:pt x="4040971" y="220760"/>
                  </a:lnTo>
                  <a:cubicBezTo>
                    <a:pt x="4040971" y="242192"/>
                    <a:pt x="4023597" y="259567"/>
                    <a:pt x="4002164" y="259567"/>
                  </a:cubicBezTo>
                  <a:lnTo>
                    <a:pt x="38807" y="259567"/>
                  </a:lnTo>
                  <a:cubicBezTo>
                    <a:pt x="28515" y="259567"/>
                    <a:pt x="18644" y="255478"/>
                    <a:pt x="11366" y="248201"/>
                  </a:cubicBezTo>
                  <a:cubicBezTo>
                    <a:pt x="4089" y="240923"/>
                    <a:pt x="0" y="231052"/>
                    <a:pt x="0" y="220760"/>
                  </a:cubicBezTo>
                  <a:lnTo>
                    <a:pt x="0" y="38807"/>
                  </a:lnTo>
                  <a:cubicBezTo>
                    <a:pt x="0" y="28515"/>
                    <a:pt x="4089" y="18644"/>
                    <a:pt x="11366" y="11366"/>
                  </a:cubicBezTo>
                  <a:cubicBezTo>
                    <a:pt x="18644" y="4089"/>
                    <a:pt x="28515" y="0"/>
                    <a:pt x="38807" y="0"/>
                  </a:cubicBezTo>
                  <a:close/>
                </a:path>
              </a:pathLst>
            </a:custGeom>
            <a:solidFill>
              <a:srgbClr val="1C3675"/>
            </a:solidFill>
            <a:ln w="19050" cap="rnd">
              <a:solidFill>
                <a:srgbClr val="CCEBFF"/>
              </a:solidFill>
              <a:prstDash val="solid"/>
              <a:round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4040971" cy="2976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0">
            <a:off x="1226569" y="5007632"/>
            <a:ext cx="819833" cy="819833"/>
          </a:xfrm>
          <a:custGeom>
            <a:avLst/>
            <a:gdLst/>
            <a:ahLst/>
            <a:cxnLst/>
            <a:rect r="r" b="b" t="t" l="l"/>
            <a:pathLst>
              <a:path h="819833" w="819833">
                <a:moveTo>
                  <a:pt x="0" y="0"/>
                </a:moveTo>
                <a:lnTo>
                  <a:pt x="819833" y="0"/>
                </a:lnTo>
                <a:lnTo>
                  <a:pt x="819833" y="819833"/>
                </a:lnTo>
                <a:lnTo>
                  <a:pt x="0" y="81983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6" id="16"/>
          <p:cNvGrpSpPr/>
          <p:nvPr/>
        </p:nvGrpSpPr>
        <p:grpSpPr>
          <a:xfrm rot="0">
            <a:off x="1057275" y="6262183"/>
            <a:ext cx="15959684" cy="1025152"/>
            <a:chOff x="0" y="0"/>
            <a:chExt cx="4040971" cy="259567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4040971" cy="259567"/>
            </a:xfrm>
            <a:custGeom>
              <a:avLst/>
              <a:gdLst/>
              <a:ahLst/>
              <a:cxnLst/>
              <a:rect r="r" b="b" t="t" l="l"/>
              <a:pathLst>
                <a:path h="259567" w="4040971">
                  <a:moveTo>
                    <a:pt x="38807" y="0"/>
                  </a:moveTo>
                  <a:lnTo>
                    <a:pt x="4002164" y="0"/>
                  </a:lnTo>
                  <a:cubicBezTo>
                    <a:pt x="4023597" y="0"/>
                    <a:pt x="4040971" y="17375"/>
                    <a:pt x="4040971" y="38807"/>
                  </a:cubicBezTo>
                  <a:lnTo>
                    <a:pt x="4040971" y="220760"/>
                  </a:lnTo>
                  <a:cubicBezTo>
                    <a:pt x="4040971" y="242192"/>
                    <a:pt x="4023597" y="259567"/>
                    <a:pt x="4002164" y="259567"/>
                  </a:cubicBezTo>
                  <a:lnTo>
                    <a:pt x="38807" y="259567"/>
                  </a:lnTo>
                  <a:cubicBezTo>
                    <a:pt x="28515" y="259567"/>
                    <a:pt x="18644" y="255478"/>
                    <a:pt x="11366" y="248201"/>
                  </a:cubicBezTo>
                  <a:cubicBezTo>
                    <a:pt x="4089" y="240923"/>
                    <a:pt x="0" y="231052"/>
                    <a:pt x="0" y="220760"/>
                  </a:cubicBezTo>
                  <a:lnTo>
                    <a:pt x="0" y="38807"/>
                  </a:lnTo>
                  <a:cubicBezTo>
                    <a:pt x="0" y="28515"/>
                    <a:pt x="4089" y="18644"/>
                    <a:pt x="11366" y="11366"/>
                  </a:cubicBezTo>
                  <a:cubicBezTo>
                    <a:pt x="18644" y="4089"/>
                    <a:pt x="28515" y="0"/>
                    <a:pt x="38807" y="0"/>
                  </a:cubicBezTo>
                  <a:close/>
                </a:path>
              </a:pathLst>
            </a:custGeom>
            <a:solidFill>
              <a:srgbClr val="1C3675"/>
            </a:solidFill>
            <a:ln w="19050" cap="rnd">
              <a:solidFill>
                <a:srgbClr val="CCEBFF"/>
              </a:solidFill>
              <a:prstDash val="solid"/>
              <a:round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4040971" cy="2976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9" id="19"/>
          <p:cNvSpPr/>
          <p:nvPr/>
        </p:nvSpPr>
        <p:spPr>
          <a:xfrm flipH="false" flipV="false" rot="0">
            <a:off x="1214845" y="6364842"/>
            <a:ext cx="819833" cy="819833"/>
          </a:xfrm>
          <a:custGeom>
            <a:avLst/>
            <a:gdLst/>
            <a:ahLst/>
            <a:cxnLst/>
            <a:rect r="r" b="b" t="t" l="l"/>
            <a:pathLst>
              <a:path h="819833" w="819833">
                <a:moveTo>
                  <a:pt x="0" y="0"/>
                </a:moveTo>
                <a:lnTo>
                  <a:pt x="819834" y="0"/>
                </a:lnTo>
                <a:lnTo>
                  <a:pt x="819834" y="819834"/>
                </a:lnTo>
                <a:lnTo>
                  <a:pt x="0" y="8198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2320459" y="3450939"/>
            <a:ext cx="14435000" cy="10040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77"/>
              </a:lnSpc>
            </a:pPr>
            <a:r>
              <a:rPr lang="en-US" sz="2912" b="true">
                <a:solidFill>
                  <a:srgbClr val="FFFFFF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Le Syndrome des Ovaires Polykystiques (PCOS) est un trouble hormonal fréquent chez les femmes en âge de procréer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2206575" y="6473804"/>
            <a:ext cx="13317502" cy="10040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77"/>
              </a:lnSpc>
            </a:pPr>
            <a:r>
              <a:rPr lang="en-US" sz="2912" b="true">
                <a:solidFill>
                  <a:srgbClr val="FFFFFF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Conséquences possibles : infertilité, diabète, maladies cardiovasculaires</a:t>
            </a:r>
          </a:p>
          <a:p>
            <a:pPr algn="l">
              <a:lnSpc>
                <a:spcPts val="4077"/>
              </a:lnSpc>
            </a:pPr>
          </a:p>
        </p:txBody>
      </p:sp>
      <p:sp>
        <p:nvSpPr>
          <p:cNvPr name="TextBox 22" id="22"/>
          <p:cNvSpPr txBox="true"/>
          <p:nvPr/>
        </p:nvSpPr>
        <p:spPr>
          <a:xfrm rot="0">
            <a:off x="1816618" y="861133"/>
            <a:ext cx="15442682" cy="11030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30"/>
              </a:lnSpc>
            </a:pPr>
            <a:r>
              <a:rPr lang="en-US" sz="7700">
                <a:solidFill>
                  <a:srgbClr val="CCEBFF"/>
                </a:solidFill>
                <a:latin typeface="Bungee"/>
                <a:ea typeface="Bungee"/>
                <a:cs typeface="Bungee"/>
                <a:sym typeface="Bungee"/>
              </a:rPr>
              <a:t>Introduction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-524871" y="9638344"/>
            <a:ext cx="2284068" cy="3993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80"/>
              </a:lnSpc>
            </a:pPr>
            <a:r>
              <a:rPr lang="en-US" sz="2755">
                <a:solidFill>
                  <a:srgbClr val="FFFFFF"/>
                </a:solidFill>
                <a:latin typeface="Bungee"/>
                <a:ea typeface="Bungee"/>
                <a:cs typeface="Bungee"/>
                <a:sym typeface="Bungee"/>
              </a:rPr>
              <a:t>3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2206575" y="5149310"/>
            <a:ext cx="9136565" cy="4888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77"/>
              </a:lnSpc>
            </a:pPr>
            <a:r>
              <a:rPr lang="en-US" sz="2912" b="true">
                <a:solidFill>
                  <a:srgbClr val="FFFFFF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Symptômes variés → diagnostic complexe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8249073" y="1445960"/>
            <a:ext cx="3073739" cy="11067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074"/>
              </a:lnSpc>
            </a:pPr>
            <a:r>
              <a:rPr lang="en-US" sz="6481">
                <a:solidFill>
                  <a:srgbClr val="9AB7FF"/>
                </a:solidFill>
                <a:latin typeface="Brittany"/>
                <a:ea typeface="Brittany"/>
                <a:cs typeface="Brittany"/>
                <a:sym typeface="Brittany"/>
              </a:rPr>
              <a:t>Introduction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-1102050" y="-1110542"/>
            <a:ext cx="20086919" cy="1543050"/>
            <a:chOff x="0" y="0"/>
            <a:chExt cx="5290382" cy="4064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5290382" cy="406400"/>
            </a:xfrm>
            <a:custGeom>
              <a:avLst/>
              <a:gdLst/>
              <a:ahLst/>
              <a:cxnLst/>
              <a:rect r="r" b="b" t="t" l="l"/>
              <a:pathLst>
                <a:path h="406400" w="5290382">
                  <a:moveTo>
                    <a:pt x="0" y="0"/>
                  </a:moveTo>
                  <a:lnTo>
                    <a:pt x="5290382" y="0"/>
                  </a:lnTo>
                  <a:lnTo>
                    <a:pt x="5290382" y="406400"/>
                  </a:lnTo>
                  <a:lnTo>
                    <a:pt x="0" y="406400"/>
                  </a:lnTo>
                  <a:close/>
                </a:path>
              </a:pathLst>
            </a:custGeom>
            <a:ln w="952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28" id="28"/>
            <p:cNvSpPr txBox="true"/>
            <p:nvPr/>
          </p:nvSpPr>
          <p:spPr>
            <a:xfrm>
              <a:off x="0" y="-38100"/>
              <a:ext cx="5290382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057275" y="7582637"/>
            <a:ext cx="15959684" cy="1025152"/>
            <a:chOff x="0" y="0"/>
            <a:chExt cx="4040971" cy="259567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4040971" cy="259567"/>
            </a:xfrm>
            <a:custGeom>
              <a:avLst/>
              <a:gdLst/>
              <a:ahLst/>
              <a:cxnLst/>
              <a:rect r="r" b="b" t="t" l="l"/>
              <a:pathLst>
                <a:path h="259567" w="4040971">
                  <a:moveTo>
                    <a:pt x="38807" y="0"/>
                  </a:moveTo>
                  <a:lnTo>
                    <a:pt x="4002164" y="0"/>
                  </a:lnTo>
                  <a:cubicBezTo>
                    <a:pt x="4023597" y="0"/>
                    <a:pt x="4040971" y="17375"/>
                    <a:pt x="4040971" y="38807"/>
                  </a:cubicBezTo>
                  <a:lnTo>
                    <a:pt x="4040971" y="220760"/>
                  </a:lnTo>
                  <a:cubicBezTo>
                    <a:pt x="4040971" y="242192"/>
                    <a:pt x="4023597" y="259567"/>
                    <a:pt x="4002164" y="259567"/>
                  </a:cubicBezTo>
                  <a:lnTo>
                    <a:pt x="38807" y="259567"/>
                  </a:lnTo>
                  <a:cubicBezTo>
                    <a:pt x="28515" y="259567"/>
                    <a:pt x="18644" y="255478"/>
                    <a:pt x="11366" y="248201"/>
                  </a:cubicBezTo>
                  <a:cubicBezTo>
                    <a:pt x="4089" y="240923"/>
                    <a:pt x="0" y="231052"/>
                    <a:pt x="0" y="220760"/>
                  </a:cubicBezTo>
                  <a:lnTo>
                    <a:pt x="0" y="38807"/>
                  </a:lnTo>
                  <a:cubicBezTo>
                    <a:pt x="0" y="28515"/>
                    <a:pt x="4089" y="18644"/>
                    <a:pt x="11366" y="11366"/>
                  </a:cubicBezTo>
                  <a:cubicBezTo>
                    <a:pt x="18644" y="4089"/>
                    <a:pt x="28515" y="0"/>
                    <a:pt x="38807" y="0"/>
                  </a:cubicBezTo>
                  <a:close/>
                </a:path>
              </a:pathLst>
            </a:custGeom>
            <a:solidFill>
              <a:srgbClr val="1C3675"/>
            </a:solidFill>
            <a:ln w="19050" cap="rnd">
              <a:solidFill>
                <a:srgbClr val="CCEBFF"/>
              </a:solidFill>
              <a:prstDash val="solid"/>
              <a:round/>
            </a:ln>
          </p:spPr>
        </p:sp>
        <p:sp>
          <p:nvSpPr>
            <p:cNvPr name="TextBox 31" id="31"/>
            <p:cNvSpPr txBox="true"/>
            <p:nvPr/>
          </p:nvSpPr>
          <p:spPr>
            <a:xfrm>
              <a:off x="0" y="-38100"/>
              <a:ext cx="4040971" cy="2976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32" id="32"/>
          <p:cNvSpPr/>
          <p:nvPr/>
        </p:nvSpPr>
        <p:spPr>
          <a:xfrm flipH="false" flipV="false" rot="0">
            <a:off x="1226569" y="7685296"/>
            <a:ext cx="819833" cy="819833"/>
          </a:xfrm>
          <a:custGeom>
            <a:avLst/>
            <a:gdLst/>
            <a:ahLst/>
            <a:cxnLst/>
            <a:rect r="r" b="b" t="t" l="l"/>
            <a:pathLst>
              <a:path h="819833" w="819833">
                <a:moveTo>
                  <a:pt x="0" y="0"/>
                </a:moveTo>
                <a:lnTo>
                  <a:pt x="819833" y="0"/>
                </a:lnTo>
                <a:lnTo>
                  <a:pt x="819833" y="819833"/>
                </a:lnTo>
                <a:lnTo>
                  <a:pt x="0" y="81983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3" id="33"/>
          <p:cNvSpPr txBox="true"/>
          <p:nvPr/>
        </p:nvSpPr>
        <p:spPr>
          <a:xfrm rot="0">
            <a:off x="2285360" y="7794258"/>
            <a:ext cx="14037823" cy="4888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77"/>
              </a:lnSpc>
            </a:pPr>
            <a:r>
              <a:rPr lang="en-US" sz="2912" b="true">
                <a:solidFill>
                  <a:srgbClr val="FFFFFF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Objectif du projet : aider les médecins avec un outil d’aide à la décision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C367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8655" y="10037646"/>
            <a:ext cx="17970690" cy="2809662"/>
            <a:chOff x="0" y="0"/>
            <a:chExt cx="4733021" cy="73999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733021" cy="739993"/>
            </a:xfrm>
            <a:custGeom>
              <a:avLst/>
              <a:gdLst/>
              <a:ahLst/>
              <a:cxnLst/>
              <a:rect r="r" b="b" t="t" l="l"/>
              <a:pathLst>
                <a:path h="739993" w="4733021">
                  <a:moveTo>
                    <a:pt x="34465" y="0"/>
                  </a:moveTo>
                  <a:lnTo>
                    <a:pt x="4698557" y="0"/>
                  </a:lnTo>
                  <a:cubicBezTo>
                    <a:pt x="4707697" y="0"/>
                    <a:pt x="4716463" y="3631"/>
                    <a:pt x="4722927" y="10094"/>
                  </a:cubicBezTo>
                  <a:cubicBezTo>
                    <a:pt x="4729390" y="16558"/>
                    <a:pt x="4733021" y="25324"/>
                    <a:pt x="4733021" y="34465"/>
                  </a:cubicBezTo>
                  <a:lnTo>
                    <a:pt x="4733021" y="705529"/>
                  </a:lnTo>
                  <a:cubicBezTo>
                    <a:pt x="4733021" y="714669"/>
                    <a:pt x="4729390" y="723436"/>
                    <a:pt x="4722927" y="729899"/>
                  </a:cubicBezTo>
                  <a:cubicBezTo>
                    <a:pt x="4716463" y="736362"/>
                    <a:pt x="4707697" y="739993"/>
                    <a:pt x="4698557" y="739993"/>
                  </a:cubicBezTo>
                  <a:lnTo>
                    <a:pt x="34465" y="739993"/>
                  </a:lnTo>
                  <a:cubicBezTo>
                    <a:pt x="25324" y="739993"/>
                    <a:pt x="16558" y="736362"/>
                    <a:pt x="10094" y="729899"/>
                  </a:cubicBezTo>
                  <a:cubicBezTo>
                    <a:pt x="3631" y="723436"/>
                    <a:pt x="0" y="714669"/>
                    <a:pt x="0" y="705529"/>
                  </a:cubicBezTo>
                  <a:lnTo>
                    <a:pt x="0" y="34465"/>
                  </a:lnTo>
                  <a:cubicBezTo>
                    <a:pt x="0" y="25324"/>
                    <a:pt x="3631" y="16558"/>
                    <a:pt x="10094" y="10094"/>
                  </a:cubicBezTo>
                  <a:cubicBezTo>
                    <a:pt x="16558" y="3631"/>
                    <a:pt x="25324" y="0"/>
                    <a:pt x="34465" y="0"/>
                  </a:cubicBezTo>
                  <a:close/>
                </a:path>
              </a:pathLst>
            </a:custGeom>
            <a:solidFill>
              <a:srgbClr val="F2AC34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733021" cy="7780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267979" y="4108237"/>
            <a:ext cx="5484452" cy="5192396"/>
            <a:chOff x="0" y="0"/>
            <a:chExt cx="1444465" cy="136754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444465" cy="1367545"/>
            </a:xfrm>
            <a:custGeom>
              <a:avLst/>
              <a:gdLst/>
              <a:ahLst/>
              <a:cxnLst/>
              <a:rect r="r" b="b" t="t" l="l"/>
              <a:pathLst>
                <a:path h="1367545" w="1444465">
                  <a:moveTo>
                    <a:pt x="50818" y="0"/>
                  </a:moveTo>
                  <a:lnTo>
                    <a:pt x="1393647" y="0"/>
                  </a:lnTo>
                  <a:cubicBezTo>
                    <a:pt x="1421713" y="0"/>
                    <a:pt x="1444465" y="22752"/>
                    <a:pt x="1444465" y="50818"/>
                  </a:cubicBezTo>
                  <a:lnTo>
                    <a:pt x="1444465" y="1316727"/>
                  </a:lnTo>
                  <a:cubicBezTo>
                    <a:pt x="1444465" y="1344793"/>
                    <a:pt x="1421713" y="1367545"/>
                    <a:pt x="1393647" y="1367545"/>
                  </a:cubicBezTo>
                  <a:lnTo>
                    <a:pt x="50818" y="1367545"/>
                  </a:lnTo>
                  <a:cubicBezTo>
                    <a:pt x="22752" y="1367545"/>
                    <a:pt x="0" y="1344793"/>
                    <a:pt x="0" y="1316727"/>
                  </a:cubicBezTo>
                  <a:lnTo>
                    <a:pt x="0" y="50818"/>
                  </a:lnTo>
                  <a:cubicBezTo>
                    <a:pt x="0" y="22752"/>
                    <a:pt x="22752" y="0"/>
                    <a:pt x="50818" y="0"/>
                  </a:cubicBezTo>
                  <a:close/>
                </a:path>
              </a:pathLst>
            </a:custGeom>
            <a:ln w="9525" cap="rnd">
              <a:solidFill>
                <a:srgbClr val="CCEBFF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444465" cy="14056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524259" y="5668432"/>
            <a:ext cx="4953636" cy="632499"/>
            <a:chOff x="0" y="0"/>
            <a:chExt cx="1429732" cy="18255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429732" cy="182554"/>
            </a:xfrm>
            <a:custGeom>
              <a:avLst/>
              <a:gdLst/>
              <a:ahLst/>
              <a:cxnLst/>
              <a:rect r="r" b="b" t="t" l="l"/>
              <a:pathLst>
                <a:path h="182554" w="1429732">
                  <a:moveTo>
                    <a:pt x="91277" y="0"/>
                  </a:moveTo>
                  <a:lnTo>
                    <a:pt x="1338456" y="0"/>
                  </a:lnTo>
                  <a:cubicBezTo>
                    <a:pt x="1388866" y="0"/>
                    <a:pt x="1429732" y="40866"/>
                    <a:pt x="1429732" y="91277"/>
                  </a:cubicBezTo>
                  <a:lnTo>
                    <a:pt x="1429732" y="91277"/>
                  </a:lnTo>
                  <a:cubicBezTo>
                    <a:pt x="1429732" y="115485"/>
                    <a:pt x="1420116" y="138701"/>
                    <a:pt x="1402998" y="155819"/>
                  </a:cubicBezTo>
                  <a:cubicBezTo>
                    <a:pt x="1385880" y="172937"/>
                    <a:pt x="1362664" y="182554"/>
                    <a:pt x="1338456" y="182554"/>
                  </a:cubicBezTo>
                  <a:lnTo>
                    <a:pt x="91277" y="182554"/>
                  </a:lnTo>
                  <a:cubicBezTo>
                    <a:pt x="67069" y="182554"/>
                    <a:pt x="43852" y="172937"/>
                    <a:pt x="26734" y="155819"/>
                  </a:cubicBezTo>
                  <a:cubicBezTo>
                    <a:pt x="9617" y="138701"/>
                    <a:pt x="0" y="115485"/>
                    <a:pt x="0" y="91277"/>
                  </a:cubicBezTo>
                  <a:lnTo>
                    <a:pt x="0" y="91277"/>
                  </a:lnTo>
                  <a:cubicBezTo>
                    <a:pt x="0" y="67069"/>
                    <a:pt x="9617" y="43852"/>
                    <a:pt x="26734" y="26734"/>
                  </a:cubicBezTo>
                  <a:cubicBezTo>
                    <a:pt x="43852" y="9617"/>
                    <a:pt x="67069" y="0"/>
                    <a:pt x="91277" y="0"/>
                  </a:cubicBezTo>
                  <a:close/>
                </a:path>
              </a:pathLst>
            </a:custGeom>
            <a:solidFill>
              <a:srgbClr val="1D3163"/>
            </a:solidFill>
            <a:ln w="1905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1429732" cy="2206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524259" y="4748587"/>
            <a:ext cx="4953636" cy="632499"/>
            <a:chOff x="0" y="0"/>
            <a:chExt cx="1429732" cy="182554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429732" cy="182554"/>
            </a:xfrm>
            <a:custGeom>
              <a:avLst/>
              <a:gdLst/>
              <a:ahLst/>
              <a:cxnLst/>
              <a:rect r="r" b="b" t="t" l="l"/>
              <a:pathLst>
                <a:path h="182554" w="1429732">
                  <a:moveTo>
                    <a:pt x="91277" y="0"/>
                  </a:moveTo>
                  <a:lnTo>
                    <a:pt x="1338456" y="0"/>
                  </a:lnTo>
                  <a:cubicBezTo>
                    <a:pt x="1388866" y="0"/>
                    <a:pt x="1429732" y="40866"/>
                    <a:pt x="1429732" y="91277"/>
                  </a:cubicBezTo>
                  <a:lnTo>
                    <a:pt x="1429732" y="91277"/>
                  </a:lnTo>
                  <a:cubicBezTo>
                    <a:pt x="1429732" y="115485"/>
                    <a:pt x="1420116" y="138701"/>
                    <a:pt x="1402998" y="155819"/>
                  </a:cubicBezTo>
                  <a:cubicBezTo>
                    <a:pt x="1385880" y="172937"/>
                    <a:pt x="1362664" y="182554"/>
                    <a:pt x="1338456" y="182554"/>
                  </a:cubicBezTo>
                  <a:lnTo>
                    <a:pt x="91277" y="182554"/>
                  </a:lnTo>
                  <a:cubicBezTo>
                    <a:pt x="67069" y="182554"/>
                    <a:pt x="43852" y="172937"/>
                    <a:pt x="26734" y="155819"/>
                  </a:cubicBezTo>
                  <a:cubicBezTo>
                    <a:pt x="9617" y="138701"/>
                    <a:pt x="0" y="115485"/>
                    <a:pt x="0" y="91277"/>
                  </a:cubicBezTo>
                  <a:lnTo>
                    <a:pt x="0" y="91277"/>
                  </a:lnTo>
                  <a:cubicBezTo>
                    <a:pt x="0" y="67069"/>
                    <a:pt x="9617" y="43852"/>
                    <a:pt x="26734" y="26734"/>
                  </a:cubicBezTo>
                  <a:cubicBezTo>
                    <a:pt x="43852" y="9617"/>
                    <a:pt x="67069" y="0"/>
                    <a:pt x="91277" y="0"/>
                  </a:cubicBezTo>
                  <a:close/>
                </a:path>
              </a:pathLst>
            </a:custGeom>
            <a:solidFill>
              <a:srgbClr val="1D3163"/>
            </a:solidFill>
            <a:ln w="1905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1429732" cy="2206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524259" y="6551227"/>
            <a:ext cx="4953636" cy="632499"/>
            <a:chOff x="0" y="0"/>
            <a:chExt cx="1429732" cy="182554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429732" cy="182554"/>
            </a:xfrm>
            <a:custGeom>
              <a:avLst/>
              <a:gdLst/>
              <a:ahLst/>
              <a:cxnLst/>
              <a:rect r="r" b="b" t="t" l="l"/>
              <a:pathLst>
                <a:path h="182554" w="1429732">
                  <a:moveTo>
                    <a:pt x="91277" y="0"/>
                  </a:moveTo>
                  <a:lnTo>
                    <a:pt x="1338456" y="0"/>
                  </a:lnTo>
                  <a:cubicBezTo>
                    <a:pt x="1388866" y="0"/>
                    <a:pt x="1429732" y="40866"/>
                    <a:pt x="1429732" y="91277"/>
                  </a:cubicBezTo>
                  <a:lnTo>
                    <a:pt x="1429732" y="91277"/>
                  </a:lnTo>
                  <a:cubicBezTo>
                    <a:pt x="1429732" y="115485"/>
                    <a:pt x="1420116" y="138701"/>
                    <a:pt x="1402998" y="155819"/>
                  </a:cubicBezTo>
                  <a:cubicBezTo>
                    <a:pt x="1385880" y="172937"/>
                    <a:pt x="1362664" y="182554"/>
                    <a:pt x="1338456" y="182554"/>
                  </a:cubicBezTo>
                  <a:lnTo>
                    <a:pt x="91277" y="182554"/>
                  </a:lnTo>
                  <a:cubicBezTo>
                    <a:pt x="67069" y="182554"/>
                    <a:pt x="43852" y="172937"/>
                    <a:pt x="26734" y="155819"/>
                  </a:cubicBezTo>
                  <a:cubicBezTo>
                    <a:pt x="9617" y="138701"/>
                    <a:pt x="0" y="115485"/>
                    <a:pt x="0" y="91277"/>
                  </a:cubicBezTo>
                  <a:lnTo>
                    <a:pt x="0" y="91277"/>
                  </a:lnTo>
                  <a:cubicBezTo>
                    <a:pt x="0" y="67069"/>
                    <a:pt x="9617" y="43852"/>
                    <a:pt x="26734" y="26734"/>
                  </a:cubicBezTo>
                  <a:cubicBezTo>
                    <a:pt x="43852" y="9617"/>
                    <a:pt x="67069" y="0"/>
                    <a:pt x="91277" y="0"/>
                  </a:cubicBezTo>
                  <a:close/>
                </a:path>
              </a:pathLst>
            </a:custGeom>
            <a:solidFill>
              <a:srgbClr val="1D3163"/>
            </a:solidFill>
            <a:ln w="1905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429732" cy="2206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7957294" y="6638730"/>
            <a:ext cx="2346937" cy="2346937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46FB2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1535569" y="3996319"/>
            <a:ext cx="5484452" cy="5258102"/>
            <a:chOff x="0" y="0"/>
            <a:chExt cx="1444465" cy="138485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444465" cy="1384850"/>
            </a:xfrm>
            <a:custGeom>
              <a:avLst/>
              <a:gdLst/>
              <a:ahLst/>
              <a:cxnLst/>
              <a:rect r="r" b="b" t="t" l="l"/>
              <a:pathLst>
                <a:path h="1384850" w="1444465">
                  <a:moveTo>
                    <a:pt x="50818" y="0"/>
                  </a:moveTo>
                  <a:lnTo>
                    <a:pt x="1393647" y="0"/>
                  </a:lnTo>
                  <a:cubicBezTo>
                    <a:pt x="1421713" y="0"/>
                    <a:pt x="1444465" y="22752"/>
                    <a:pt x="1444465" y="50818"/>
                  </a:cubicBezTo>
                  <a:lnTo>
                    <a:pt x="1444465" y="1334032"/>
                  </a:lnTo>
                  <a:cubicBezTo>
                    <a:pt x="1444465" y="1362098"/>
                    <a:pt x="1421713" y="1384850"/>
                    <a:pt x="1393647" y="1384850"/>
                  </a:cubicBezTo>
                  <a:lnTo>
                    <a:pt x="50818" y="1384850"/>
                  </a:lnTo>
                  <a:cubicBezTo>
                    <a:pt x="22752" y="1384850"/>
                    <a:pt x="0" y="1362098"/>
                    <a:pt x="0" y="1334032"/>
                  </a:cubicBezTo>
                  <a:lnTo>
                    <a:pt x="0" y="50818"/>
                  </a:lnTo>
                  <a:cubicBezTo>
                    <a:pt x="0" y="22752"/>
                    <a:pt x="22752" y="0"/>
                    <a:pt x="50818" y="0"/>
                  </a:cubicBezTo>
                  <a:close/>
                </a:path>
              </a:pathLst>
            </a:custGeom>
            <a:ln w="9525" cap="rnd">
              <a:solidFill>
                <a:srgbClr val="CCEBFF"/>
              </a:solidFill>
              <a:prstDash val="solid"/>
              <a:round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1444465" cy="14229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23" id="23"/>
          <p:cNvSpPr/>
          <p:nvPr/>
        </p:nvSpPr>
        <p:spPr>
          <a:xfrm flipH="false" flipV="false" rot="0">
            <a:off x="6949462" y="3987319"/>
            <a:ext cx="4348811" cy="2899207"/>
          </a:xfrm>
          <a:custGeom>
            <a:avLst/>
            <a:gdLst/>
            <a:ahLst/>
            <a:cxnLst/>
            <a:rect r="r" b="b" t="t" l="l"/>
            <a:pathLst>
              <a:path h="2899207" w="4348811">
                <a:moveTo>
                  <a:pt x="0" y="0"/>
                </a:moveTo>
                <a:lnTo>
                  <a:pt x="4348811" y="0"/>
                </a:lnTo>
                <a:lnTo>
                  <a:pt x="4348811" y="2899207"/>
                </a:lnTo>
                <a:lnTo>
                  <a:pt x="0" y="289920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24" id="24"/>
          <p:cNvSpPr txBox="true"/>
          <p:nvPr/>
        </p:nvSpPr>
        <p:spPr>
          <a:xfrm rot="0">
            <a:off x="910738" y="855482"/>
            <a:ext cx="11019076" cy="15106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10"/>
              </a:lnSpc>
            </a:pPr>
            <a:r>
              <a:rPr lang="en-US" sz="5900">
                <a:solidFill>
                  <a:srgbClr val="CCEBFF"/>
                </a:solidFill>
                <a:latin typeface="Bungee"/>
                <a:ea typeface="Bungee"/>
                <a:cs typeface="Bungee"/>
                <a:sym typeface="Bungee"/>
              </a:rPr>
              <a:t>Choix et Démarche Méthodologique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-524871" y="9638344"/>
            <a:ext cx="2284068" cy="3993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80"/>
              </a:lnSpc>
            </a:pPr>
            <a:r>
              <a:rPr lang="en-US" sz="2755">
                <a:solidFill>
                  <a:srgbClr val="FFFFFF"/>
                </a:solidFill>
                <a:latin typeface="Bungee"/>
                <a:ea typeface="Bungee"/>
                <a:cs typeface="Bungee"/>
                <a:sym typeface="Bungee"/>
              </a:rPr>
              <a:t>4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838405" y="5816833"/>
            <a:ext cx="4273749" cy="3028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2100" b="true">
                <a:solidFill>
                  <a:srgbClr val="FFFFFF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Étape 2 : Collecter les données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828880" y="6710646"/>
            <a:ext cx="4101407" cy="3028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2100" b="true">
                <a:solidFill>
                  <a:srgbClr val="FFFFFF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Étape 3 : Explorer les données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871663" y="4887483"/>
            <a:ext cx="4465273" cy="303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30"/>
              </a:lnSpc>
            </a:pPr>
            <a:r>
              <a:rPr lang="en-US" sz="2118" b="true">
                <a:solidFill>
                  <a:srgbClr val="FFFFFF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Étape 1 : Définir le problème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8219145" y="7200175"/>
            <a:ext cx="1694974" cy="9796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954"/>
              </a:lnSpc>
            </a:pPr>
            <a:r>
              <a:rPr lang="en-US" sz="5681">
                <a:solidFill>
                  <a:srgbClr val="9AB7FF"/>
                </a:solidFill>
                <a:latin typeface="Brittany"/>
                <a:ea typeface="Brittany"/>
                <a:cs typeface="Brittany"/>
                <a:sym typeface="Brittany"/>
              </a:rPr>
              <a:t>Etapes</a:t>
            </a:r>
          </a:p>
        </p:txBody>
      </p:sp>
      <p:grpSp>
        <p:nvGrpSpPr>
          <p:cNvPr name="Group 30" id="30"/>
          <p:cNvGrpSpPr/>
          <p:nvPr/>
        </p:nvGrpSpPr>
        <p:grpSpPr>
          <a:xfrm rot="0">
            <a:off x="9914119" y="645623"/>
            <a:ext cx="7691374" cy="3023036"/>
            <a:chOff x="0" y="0"/>
            <a:chExt cx="10255166" cy="4030714"/>
          </a:xfrm>
        </p:grpSpPr>
        <p:sp>
          <p:nvSpPr>
            <p:cNvPr name="TextBox 31" id="31"/>
            <p:cNvSpPr txBox="true"/>
            <p:nvPr/>
          </p:nvSpPr>
          <p:spPr>
            <a:xfrm rot="0">
              <a:off x="343004" y="-66675"/>
              <a:ext cx="4504786" cy="88042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610"/>
                </a:lnSpc>
              </a:pPr>
              <a:r>
                <a:rPr lang="en-US" sz="4007">
                  <a:solidFill>
                    <a:srgbClr val="9AB7FF"/>
                  </a:solidFill>
                  <a:latin typeface="Brittany"/>
                  <a:ea typeface="Brittany"/>
                  <a:cs typeface="Brittany"/>
                  <a:sym typeface="Brittany"/>
                </a:rPr>
                <a:t>Choix de la Dataset</a:t>
              </a:r>
            </a:p>
          </p:txBody>
        </p:sp>
        <p:grpSp>
          <p:nvGrpSpPr>
            <p:cNvPr name="Group 32" id="32"/>
            <p:cNvGrpSpPr/>
            <p:nvPr/>
          </p:nvGrpSpPr>
          <p:grpSpPr>
            <a:xfrm rot="0">
              <a:off x="0" y="250131"/>
              <a:ext cx="10255166" cy="3780583"/>
              <a:chOff x="0" y="0"/>
              <a:chExt cx="2529632" cy="932553"/>
            </a:xfrm>
          </p:grpSpPr>
          <p:sp>
            <p:nvSpPr>
              <p:cNvPr name="Freeform 33" id="33"/>
              <p:cNvSpPr/>
              <p:nvPr/>
            </p:nvSpPr>
            <p:spPr>
              <a:xfrm flipH="false" flipV="false" rot="0">
                <a:off x="0" y="0"/>
                <a:ext cx="2529632" cy="932553"/>
              </a:xfrm>
              <a:custGeom>
                <a:avLst/>
                <a:gdLst/>
                <a:ahLst/>
                <a:cxnLst/>
                <a:rect r="r" b="b" t="t" l="l"/>
                <a:pathLst>
                  <a:path h="932553" w="2529632">
                    <a:moveTo>
                      <a:pt x="96914" y="0"/>
                    </a:moveTo>
                    <a:lnTo>
                      <a:pt x="2432718" y="0"/>
                    </a:lnTo>
                    <a:cubicBezTo>
                      <a:pt x="2458421" y="0"/>
                      <a:pt x="2483071" y="10211"/>
                      <a:pt x="2501246" y="28385"/>
                    </a:cubicBezTo>
                    <a:cubicBezTo>
                      <a:pt x="2519421" y="46560"/>
                      <a:pt x="2529632" y="71211"/>
                      <a:pt x="2529632" y="96914"/>
                    </a:cubicBezTo>
                    <a:lnTo>
                      <a:pt x="2529632" y="835639"/>
                    </a:lnTo>
                    <a:cubicBezTo>
                      <a:pt x="2529632" y="861342"/>
                      <a:pt x="2519421" y="885992"/>
                      <a:pt x="2501246" y="904167"/>
                    </a:cubicBezTo>
                    <a:cubicBezTo>
                      <a:pt x="2483071" y="922342"/>
                      <a:pt x="2458421" y="932553"/>
                      <a:pt x="2432718" y="932553"/>
                    </a:cubicBezTo>
                    <a:lnTo>
                      <a:pt x="96914" y="932553"/>
                    </a:lnTo>
                    <a:cubicBezTo>
                      <a:pt x="71211" y="932553"/>
                      <a:pt x="46560" y="922342"/>
                      <a:pt x="28385" y="904167"/>
                    </a:cubicBezTo>
                    <a:cubicBezTo>
                      <a:pt x="10211" y="885992"/>
                      <a:pt x="0" y="861342"/>
                      <a:pt x="0" y="835639"/>
                    </a:cubicBezTo>
                    <a:lnTo>
                      <a:pt x="0" y="96914"/>
                    </a:lnTo>
                    <a:cubicBezTo>
                      <a:pt x="0" y="71211"/>
                      <a:pt x="10211" y="46560"/>
                      <a:pt x="28385" y="28385"/>
                    </a:cubicBezTo>
                    <a:cubicBezTo>
                      <a:pt x="46560" y="10211"/>
                      <a:pt x="71211" y="0"/>
                      <a:pt x="96914" y="0"/>
                    </a:cubicBezTo>
                    <a:close/>
                  </a:path>
                </a:pathLst>
              </a:custGeom>
              <a:ln w="28575" cap="rnd">
                <a:solidFill>
                  <a:srgbClr val="FFFFFF"/>
                </a:solidFill>
                <a:prstDash val="solid"/>
                <a:round/>
              </a:ln>
            </p:spPr>
          </p:sp>
          <p:sp>
            <p:nvSpPr>
              <p:cNvPr name="TextBox 34" id="34"/>
              <p:cNvSpPr txBox="true"/>
              <p:nvPr/>
            </p:nvSpPr>
            <p:spPr>
              <a:xfrm>
                <a:off x="0" y="-28575"/>
                <a:ext cx="2529632" cy="96112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35" id="35"/>
            <p:cNvSpPr txBox="true"/>
            <p:nvPr/>
          </p:nvSpPr>
          <p:spPr>
            <a:xfrm rot="0">
              <a:off x="881333" y="1012672"/>
              <a:ext cx="8492500" cy="26185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634"/>
                </a:lnSpc>
              </a:pPr>
              <a:r>
                <a:rPr lang="en-US" sz="1881" b="true">
                  <a:solidFill>
                    <a:srgbClr val="FFFFFF"/>
                  </a:solidFill>
                  <a:latin typeface="Quicksand Bold"/>
                  <a:ea typeface="Quicksand Bold"/>
                  <a:cs typeface="Quicksand Bold"/>
                  <a:sym typeface="Quicksand Bold"/>
                </a:rPr>
                <a:t>Dataset choisi : « PCOS Dataset » sur Kaggle</a:t>
              </a:r>
            </a:p>
            <a:p>
              <a:pPr algn="l">
                <a:lnSpc>
                  <a:spcPts val="2634"/>
                </a:lnSpc>
              </a:pPr>
            </a:p>
            <a:p>
              <a:pPr algn="l" marL="406311" indent="-203155" lvl="1">
                <a:lnSpc>
                  <a:spcPts val="2634"/>
                </a:lnSpc>
                <a:buFont typeface="Arial"/>
                <a:buChar char="•"/>
              </a:pPr>
              <a:r>
                <a:rPr lang="en-US" b="true" sz="1881">
                  <a:solidFill>
                    <a:srgbClr val="FFFFFF"/>
                  </a:solidFill>
                  <a:latin typeface="Quicksand Bold"/>
                  <a:ea typeface="Quicksand Bold"/>
                  <a:cs typeface="Quicksand Bold"/>
                  <a:sym typeface="Quicksand Bold"/>
                </a:rPr>
                <a:t>2000 patientes initialement</a:t>
              </a:r>
            </a:p>
            <a:p>
              <a:pPr algn="l" marL="406311" indent="-203155" lvl="1">
                <a:lnSpc>
                  <a:spcPts val="2634"/>
                </a:lnSpc>
                <a:buFont typeface="Arial"/>
                <a:buChar char="•"/>
              </a:pPr>
              <a:r>
                <a:rPr lang="en-US" b="true" sz="1881">
                  <a:solidFill>
                    <a:srgbClr val="FFFFFF"/>
                  </a:solidFill>
                  <a:latin typeface="Quicksand Bold"/>
                  <a:ea typeface="Quicksand Bold"/>
                  <a:cs typeface="Quicksand Bold"/>
                  <a:sym typeface="Quicksand Bold"/>
                </a:rPr>
                <a:t>44 attributs (cliniques, biologiques, symptômes)</a:t>
              </a:r>
            </a:p>
            <a:p>
              <a:pPr algn="l" marL="406311" indent="-203155" lvl="1">
                <a:lnSpc>
                  <a:spcPts val="2634"/>
                </a:lnSpc>
                <a:buFont typeface="Arial"/>
                <a:buChar char="•"/>
              </a:pPr>
              <a:r>
                <a:rPr lang="en-US" b="true" sz="1881">
                  <a:solidFill>
                    <a:srgbClr val="FFFFFF"/>
                  </a:solidFill>
                  <a:latin typeface="Quicksand Bold"/>
                  <a:ea typeface="Quicksand Bold"/>
                  <a:cs typeface="Quicksand Bold"/>
                  <a:sym typeface="Quicksand Bold"/>
                </a:rPr>
                <a:t>Variable cible : PCOS (Y/N) → classification binaire</a:t>
              </a:r>
            </a:p>
            <a:p>
              <a:pPr algn="l">
                <a:lnSpc>
                  <a:spcPts val="2634"/>
                </a:lnSpc>
              </a:pP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1473652" y="7430893"/>
            <a:ext cx="4953636" cy="632499"/>
            <a:chOff x="0" y="0"/>
            <a:chExt cx="1429732" cy="182554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429732" cy="182554"/>
            </a:xfrm>
            <a:custGeom>
              <a:avLst/>
              <a:gdLst/>
              <a:ahLst/>
              <a:cxnLst/>
              <a:rect r="r" b="b" t="t" l="l"/>
              <a:pathLst>
                <a:path h="182554" w="1429732">
                  <a:moveTo>
                    <a:pt x="91277" y="0"/>
                  </a:moveTo>
                  <a:lnTo>
                    <a:pt x="1338456" y="0"/>
                  </a:lnTo>
                  <a:cubicBezTo>
                    <a:pt x="1388866" y="0"/>
                    <a:pt x="1429732" y="40866"/>
                    <a:pt x="1429732" y="91277"/>
                  </a:cubicBezTo>
                  <a:lnTo>
                    <a:pt x="1429732" y="91277"/>
                  </a:lnTo>
                  <a:cubicBezTo>
                    <a:pt x="1429732" y="115485"/>
                    <a:pt x="1420116" y="138701"/>
                    <a:pt x="1402998" y="155819"/>
                  </a:cubicBezTo>
                  <a:cubicBezTo>
                    <a:pt x="1385880" y="172937"/>
                    <a:pt x="1362664" y="182554"/>
                    <a:pt x="1338456" y="182554"/>
                  </a:cubicBezTo>
                  <a:lnTo>
                    <a:pt x="91277" y="182554"/>
                  </a:lnTo>
                  <a:cubicBezTo>
                    <a:pt x="67069" y="182554"/>
                    <a:pt x="43852" y="172937"/>
                    <a:pt x="26734" y="155819"/>
                  </a:cubicBezTo>
                  <a:cubicBezTo>
                    <a:pt x="9617" y="138701"/>
                    <a:pt x="0" y="115485"/>
                    <a:pt x="0" y="91277"/>
                  </a:cubicBezTo>
                  <a:lnTo>
                    <a:pt x="0" y="91277"/>
                  </a:lnTo>
                  <a:cubicBezTo>
                    <a:pt x="0" y="67069"/>
                    <a:pt x="9617" y="43852"/>
                    <a:pt x="26734" y="26734"/>
                  </a:cubicBezTo>
                  <a:cubicBezTo>
                    <a:pt x="43852" y="9617"/>
                    <a:pt x="67069" y="0"/>
                    <a:pt x="91277" y="0"/>
                  </a:cubicBezTo>
                  <a:close/>
                </a:path>
              </a:pathLst>
            </a:custGeom>
            <a:solidFill>
              <a:srgbClr val="1D3163"/>
            </a:solidFill>
            <a:ln w="1905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name="TextBox 38" id="38"/>
            <p:cNvSpPr txBox="true"/>
            <p:nvPr/>
          </p:nvSpPr>
          <p:spPr>
            <a:xfrm>
              <a:off x="0" y="-38100"/>
              <a:ext cx="1429732" cy="2206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39" id="39"/>
          <p:cNvSpPr txBox="true"/>
          <p:nvPr/>
        </p:nvSpPr>
        <p:spPr>
          <a:xfrm rot="0">
            <a:off x="1852613" y="7574251"/>
            <a:ext cx="4155788" cy="3028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2100" b="true">
                <a:solidFill>
                  <a:srgbClr val="FFFFFF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Étape 4 : Préparer les données</a:t>
            </a:r>
          </a:p>
        </p:txBody>
      </p:sp>
      <p:grpSp>
        <p:nvGrpSpPr>
          <p:cNvPr name="Group 40" id="40"/>
          <p:cNvGrpSpPr/>
          <p:nvPr/>
        </p:nvGrpSpPr>
        <p:grpSpPr>
          <a:xfrm rot="0">
            <a:off x="11825129" y="5563373"/>
            <a:ext cx="4953636" cy="632499"/>
            <a:chOff x="0" y="0"/>
            <a:chExt cx="1429732" cy="182554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1429732" cy="182554"/>
            </a:xfrm>
            <a:custGeom>
              <a:avLst/>
              <a:gdLst/>
              <a:ahLst/>
              <a:cxnLst/>
              <a:rect r="r" b="b" t="t" l="l"/>
              <a:pathLst>
                <a:path h="182554" w="1429732">
                  <a:moveTo>
                    <a:pt x="91277" y="0"/>
                  </a:moveTo>
                  <a:lnTo>
                    <a:pt x="1338456" y="0"/>
                  </a:lnTo>
                  <a:cubicBezTo>
                    <a:pt x="1388866" y="0"/>
                    <a:pt x="1429732" y="40866"/>
                    <a:pt x="1429732" y="91277"/>
                  </a:cubicBezTo>
                  <a:lnTo>
                    <a:pt x="1429732" y="91277"/>
                  </a:lnTo>
                  <a:cubicBezTo>
                    <a:pt x="1429732" y="115485"/>
                    <a:pt x="1420116" y="138701"/>
                    <a:pt x="1402998" y="155819"/>
                  </a:cubicBezTo>
                  <a:cubicBezTo>
                    <a:pt x="1385880" y="172937"/>
                    <a:pt x="1362664" y="182554"/>
                    <a:pt x="1338456" y="182554"/>
                  </a:cubicBezTo>
                  <a:lnTo>
                    <a:pt x="91277" y="182554"/>
                  </a:lnTo>
                  <a:cubicBezTo>
                    <a:pt x="67069" y="182554"/>
                    <a:pt x="43852" y="172937"/>
                    <a:pt x="26734" y="155819"/>
                  </a:cubicBezTo>
                  <a:cubicBezTo>
                    <a:pt x="9617" y="138701"/>
                    <a:pt x="0" y="115485"/>
                    <a:pt x="0" y="91277"/>
                  </a:cubicBezTo>
                  <a:lnTo>
                    <a:pt x="0" y="91277"/>
                  </a:lnTo>
                  <a:cubicBezTo>
                    <a:pt x="0" y="67069"/>
                    <a:pt x="9617" y="43852"/>
                    <a:pt x="26734" y="26734"/>
                  </a:cubicBezTo>
                  <a:cubicBezTo>
                    <a:pt x="43852" y="9617"/>
                    <a:pt x="67069" y="0"/>
                    <a:pt x="91277" y="0"/>
                  </a:cubicBezTo>
                  <a:close/>
                </a:path>
              </a:pathLst>
            </a:custGeom>
            <a:solidFill>
              <a:srgbClr val="1D3163"/>
            </a:solidFill>
            <a:ln w="1905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name="TextBox 42" id="42"/>
            <p:cNvSpPr txBox="true"/>
            <p:nvPr/>
          </p:nvSpPr>
          <p:spPr>
            <a:xfrm>
              <a:off x="0" y="-38100"/>
              <a:ext cx="1429732" cy="2206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11825129" y="4643528"/>
            <a:ext cx="4953636" cy="632499"/>
            <a:chOff x="0" y="0"/>
            <a:chExt cx="1429732" cy="182554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1429732" cy="182554"/>
            </a:xfrm>
            <a:custGeom>
              <a:avLst/>
              <a:gdLst/>
              <a:ahLst/>
              <a:cxnLst/>
              <a:rect r="r" b="b" t="t" l="l"/>
              <a:pathLst>
                <a:path h="182554" w="1429732">
                  <a:moveTo>
                    <a:pt x="91277" y="0"/>
                  </a:moveTo>
                  <a:lnTo>
                    <a:pt x="1338456" y="0"/>
                  </a:lnTo>
                  <a:cubicBezTo>
                    <a:pt x="1388866" y="0"/>
                    <a:pt x="1429732" y="40866"/>
                    <a:pt x="1429732" y="91277"/>
                  </a:cubicBezTo>
                  <a:lnTo>
                    <a:pt x="1429732" y="91277"/>
                  </a:lnTo>
                  <a:cubicBezTo>
                    <a:pt x="1429732" y="115485"/>
                    <a:pt x="1420116" y="138701"/>
                    <a:pt x="1402998" y="155819"/>
                  </a:cubicBezTo>
                  <a:cubicBezTo>
                    <a:pt x="1385880" y="172937"/>
                    <a:pt x="1362664" y="182554"/>
                    <a:pt x="1338456" y="182554"/>
                  </a:cubicBezTo>
                  <a:lnTo>
                    <a:pt x="91277" y="182554"/>
                  </a:lnTo>
                  <a:cubicBezTo>
                    <a:pt x="67069" y="182554"/>
                    <a:pt x="43852" y="172937"/>
                    <a:pt x="26734" y="155819"/>
                  </a:cubicBezTo>
                  <a:cubicBezTo>
                    <a:pt x="9617" y="138701"/>
                    <a:pt x="0" y="115485"/>
                    <a:pt x="0" y="91277"/>
                  </a:cubicBezTo>
                  <a:lnTo>
                    <a:pt x="0" y="91277"/>
                  </a:lnTo>
                  <a:cubicBezTo>
                    <a:pt x="0" y="67069"/>
                    <a:pt x="9617" y="43852"/>
                    <a:pt x="26734" y="26734"/>
                  </a:cubicBezTo>
                  <a:cubicBezTo>
                    <a:pt x="43852" y="9617"/>
                    <a:pt x="67069" y="0"/>
                    <a:pt x="91277" y="0"/>
                  </a:cubicBezTo>
                  <a:close/>
                </a:path>
              </a:pathLst>
            </a:custGeom>
            <a:solidFill>
              <a:srgbClr val="1D3163"/>
            </a:solidFill>
            <a:ln w="1905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name="TextBox 45" id="45"/>
            <p:cNvSpPr txBox="true"/>
            <p:nvPr/>
          </p:nvSpPr>
          <p:spPr>
            <a:xfrm>
              <a:off x="0" y="-38100"/>
              <a:ext cx="1429732" cy="2206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11825129" y="6446168"/>
            <a:ext cx="4953636" cy="632499"/>
            <a:chOff x="0" y="0"/>
            <a:chExt cx="1429732" cy="182554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1429732" cy="182554"/>
            </a:xfrm>
            <a:custGeom>
              <a:avLst/>
              <a:gdLst/>
              <a:ahLst/>
              <a:cxnLst/>
              <a:rect r="r" b="b" t="t" l="l"/>
              <a:pathLst>
                <a:path h="182554" w="1429732">
                  <a:moveTo>
                    <a:pt x="91277" y="0"/>
                  </a:moveTo>
                  <a:lnTo>
                    <a:pt x="1338456" y="0"/>
                  </a:lnTo>
                  <a:cubicBezTo>
                    <a:pt x="1388866" y="0"/>
                    <a:pt x="1429732" y="40866"/>
                    <a:pt x="1429732" y="91277"/>
                  </a:cubicBezTo>
                  <a:lnTo>
                    <a:pt x="1429732" y="91277"/>
                  </a:lnTo>
                  <a:cubicBezTo>
                    <a:pt x="1429732" y="115485"/>
                    <a:pt x="1420116" y="138701"/>
                    <a:pt x="1402998" y="155819"/>
                  </a:cubicBezTo>
                  <a:cubicBezTo>
                    <a:pt x="1385880" y="172937"/>
                    <a:pt x="1362664" y="182554"/>
                    <a:pt x="1338456" y="182554"/>
                  </a:cubicBezTo>
                  <a:lnTo>
                    <a:pt x="91277" y="182554"/>
                  </a:lnTo>
                  <a:cubicBezTo>
                    <a:pt x="67069" y="182554"/>
                    <a:pt x="43852" y="172937"/>
                    <a:pt x="26734" y="155819"/>
                  </a:cubicBezTo>
                  <a:cubicBezTo>
                    <a:pt x="9617" y="138701"/>
                    <a:pt x="0" y="115485"/>
                    <a:pt x="0" y="91277"/>
                  </a:cubicBezTo>
                  <a:lnTo>
                    <a:pt x="0" y="91277"/>
                  </a:lnTo>
                  <a:cubicBezTo>
                    <a:pt x="0" y="67069"/>
                    <a:pt x="9617" y="43852"/>
                    <a:pt x="26734" y="26734"/>
                  </a:cubicBezTo>
                  <a:cubicBezTo>
                    <a:pt x="43852" y="9617"/>
                    <a:pt x="67069" y="0"/>
                    <a:pt x="91277" y="0"/>
                  </a:cubicBezTo>
                  <a:close/>
                </a:path>
              </a:pathLst>
            </a:custGeom>
            <a:solidFill>
              <a:srgbClr val="1D3163"/>
            </a:solidFill>
            <a:ln w="1905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name="TextBox 48" id="48"/>
            <p:cNvSpPr txBox="true"/>
            <p:nvPr/>
          </p:nvSpPr>
          <p:spPr>
            <a:xfrm>
              <a:off x="0" y="-38100"/>
              <a:ext cx="1429732" cy="2206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49" id="49"/>
          <p:cNvSpPr txBox="true"/>
          <p:nvPr/>
        </p:nvSpPr>
        <p:spPr>
          <a:xfrm rot="0">
            <a:off x="12139276" y="5711774"/>
            <a:ext cx="4273749" cy="3028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2100" b="true">
                <a:solidFill>
                  <a:srgbClr val="FFFFFF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Étape 6 : Entraîner 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12139276" y="6605587"/>
            <a:ext cx="4101407" cy="3028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2100" b="true">
                <a:solidFill>
                  <a:srgbClr val="FFFFFF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Étape 7 : Évaluer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12172534" y="4782425"/>
            <a:ext cx="4465273" cy="303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30"/>
              </a:lnSpc>
            </a:pPr>
            <a:r>
              <a:rPr lang="en-US" sz="2118" b="true">
                <a:solidFill>
                  <a:srgbClr val="FFFFFF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Étape 5 : Choisir un modèle</a:t>
            </a:r>
          </a:p>
        </p:txBody>
      </p:sp>
      <p:grpSp>
        <p:nvGrpSpPr>
          <p:cNvPr name="Group 52" id="52"/>
          <p:cNvGrpSpPr/>
          <p:nvPr/>
        </p:nvGrpSpPr>
        <p:grpSpPr>
          <a:xfrm rot="0">
            <a:off x="11774523" y="7325834"/>
            <a:ext cx="4953636" cy="632499"/>
            <a:chOff x="0" y="0"/>
            <a:chExt cx="1429732" cy="182554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1429732" cy="182554"/>
            </a:xfrm>
            <a:custGeom>
              <a:avLst/>
              <a:gdLst/>
              <a:ahLst/>
              <a:cxnLst/>
              <a:rect r="r" b="b" t="t" l="l"/>
              <a:pathLst>
                <a:path h="182554" w="1429732">
                  <a:moveTo>
                    <a:pt x="91277" y="0"/>
                  </a:moveTo>
                  <a:lnTo>
                    <a:pt x="1338456" y="0"/>
                  </a:lnTo>
                  <a:cubicBezTo>
                    <a:pt x="1388866" y="0"/>
                    <a:pt x="1429732" y="40866"/>
                    <a:pt x="1429732" y="91277"/>
                  </a:cubicBezTo>
                  <a:lnTo>
                    <a:pt x="1429732" y="91277"/>
                  </a:lnTo>
                  <a:cubicBezTo>
                    <a:pt x="1429732" y="115485"/>
                    <a:pt x="1420116" y="138701"/>
                    <a:pt x="1402998" y="155819"/>
                  </a:cubicBezTo>
                  <a:cubicBezTo>
                    <a:pt x="1385880" y="172937"/>
                    <a:pt x="1362664" y="182554"/>
                    <a:pt x="1338456" y="182554"/>
                  </a:cubicBezTo>
                  <a:lnTo>
                    <a:pt x="91277" y="182554"/>
                  </a:lnTo>
                  <a:cubicBezTo>
                    <a:pt x="67069" y="182554"/>
                    <a:pt x="43852" y="172937"/>
                    <a:pt x="26734" y="155819"/>
                  </a:cubicBezTo>
                  <a:cubicBezTo>
                    <a:pt x="9617" y="138701"/>
                    <a:pt x="0" y="115485"/>
                    <a:pt x="0" y="91277"/>
                  </a:cubicBezTo>
                  <a:lnTo>
                    <a:pt x="0" y="91277"/>
                  </a:lnTo>
                  <a:cubicBezTo>
                    <a:pt x="0" y="67069"/>
                    <a:pt x="9617" y="43852"/>
                    <a:pt x="26734" y="26734"/>
                  </a:cubicBezTo>
                  <a:cubicBezTo>
                    <a:pt x="43852" y="9617"/>
                    <a:pt x="67069" y="0"/>
                    <a:pt x="91277" y="0"/>
                  </a:cubicBezTo>
                  <a:close/>
                </a:path>
              </a:pathLst>
            </a:custGeom>
            <a:solidFill>
              <a:srgbClr val="1D3163"/>
            </a:solidFill>
            <a:ln w="1905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name="TextBox 54" id="54"/>
            <p:cNvSpPr txBox="true"/>
            <p:nvPr/>
          </p:nvSpPr>
          <p:spPr>
            <a:xfrm>
              <a:off x="0" y="-38100"/>
              <a:ext cx="1429732" cy="2206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55" id="55"/>
          <p:cNvSpPr txBox="true"/>
          <p:nvPr/>
        </p:nvSpPr>
        <p:spPr>
          <a:xfrm rot="0">
            <a:off x="12172534" y="7459667"/>
            <a:ext cx="4155788" cy="3028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2100" b="true">
                <a:solidFill>
                  <a:srgbClr val="FFFFFF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Étape 8 : Déployer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C367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993490" y="90702"/>
            <a:ext cx="20086919" cy="1543050"/>
            <a:chOff x="0" y="0"/>
            <a:chExt cx="5290382" cy="4064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290382" cy="406400"/>
            </a:xfrm>
            <a:custGeom>
              <a:avLst/>
              <a:gdLst/>
              <a:ahLst/>
              <a:cxnLst/>
              <a:rect r="r" b="b" t="t" l="l"/>
              <a:pathLst>
                <a:path h="406400" w="5290382">
                  <a:moveTo>
                    <a:pt x="0" y="0"/>
                  </a:moveTo>
                  <a:lnTo>
                    <a:pt x="5290382" y="0"/>
                  </a:lnTo>
                  <a:lnTo>
                    <a:pt x="5290382" y="406400"/>
                  </a:lnTo>
                  <a:lnTo>
                    <a:pt x="0" y="406400"/>
                  </a:lnTo>
                  <a:close/>
                </a:path>
              </a:pathLst>
            </a:custGeom>
            <a:ln w="952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5290382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-871604" y="-639978"/>
            <a:ext cx="2460184" cy="2649428"/>
          </a:xfrm>
          <a:custGeom>
            <a:avLst/>
            <a:gdLst/>
            <a:ahLst/>
            <a:cxnLst/>
            <a:rect r="r" b="b" t="t" l="l"/>
            <a:pathLst>
              <a:path h="2649428" w="2460184">
                <a:moveTo>
                  <a:pt x="0" y="0"/>
                </a:moveTo>
                <a:lnTo>
                  <a:pt x="2460183" y="0"/>
                </a:lnTo>
                <a:lnTo>
                  <a:pt x="2460183" y="2649428"/>
                </a:lnTo>
                <a:lnTo>
                  <a:pt x="0" y="264942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201884" t="-35465" r="-335790" b="-529166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358488" y="2286074"/>
            <a:ext cx="10126578" cy="2571201"/>
          </a:xfrm>
          <a:custGeom>
            <a:avLst/>
            <a:gdLst/>
            <a:ahLst/>
            <a:cxnLst/>
            <a:rect r="r" b="b" t="t" l="l"/>
            <a:pathLst>
              <a:path h="2571201" w="10126578">
                <a:moveTo>
                  <a:pt x="0" y="0"/>
                </a:moveTo>
                <a:lnTo>
                  <a:pt x="10126577" y="0"/>
                </a:lnTo>
                <a:lnTo>
                  <a:pt x="10126577" y="2571202"/>
                </a:lnTo>
                <a:lnTo>
                  <a:pt x="0" y="257120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588579" y="435501"/>
            <a:ext cx="16283677" cy="9106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60"/>
              </a:lnSpc>
            </a:pPr>
            <a:r>
              <a:rPr lang="en-US" sz="6400">
                <a:solidFill>
                  <a:srgbClr val="FFFFFF"/>
                </a:solidFill>
                <a:latin typeface="Bungee"/>
                <a:ea typeface="Bungee"/>
                <a:cs typeface="Bungee"/>
                <a:sym typeface="Bungee"/>
              </a:rPr>
              <a:t>Modélisation et Comparaison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-560183" y="9517711"/>
            <a:ext cx="2284068" cy="3993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80"/>
              </a:lnSpc>
            </a:pPr>
            <a:r>
              <a:rPr lang="en-US" sz="2755">
                <a:solidFill>
                  <a:srgbClr val="FFFFFF"/>
                </a:solidFill>
                <a:latin typeface="Bungee"/>
                <a:ea typeface="Bungee"/>
                <a:cs typeface="Bungee"/>
                <a:sym typeface="Bungee"/>
              </a:rPr>
              <a:t>5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50266" y="848962"/>
            <a:ext cx="7099221" cy="9796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954"/>
              </a:lnSpc>
            </a:pPr>
            <a:r>
              <a:rPr lang="en-US" sz="5681">
                <a:solidFill>
                  <a:srgbClr val="9AB7FF"/>
                </a:solidFill>
                <a:latin typeface="Brittany"/>
                <a:ea typeface="Brittany"/>
                <a:cs typeface="Brittany"/>
                <a:sym typeface="Brittany"/>
              </a:rPr>
              <a:t>Modélisation et Comparaison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2779256" y="8811519"/>
            <a:ext cx="6270713" cy="1043932"/>
            <a:chOff x="0" y="0"/>
            <a:chExt cx="8360950" cy="1391909"/>
          </a:xfrm>
        </p:grpSpPr>
        <p:grpSp>
          <p:nvGrpSpPr>
            <p:cNvPr name="Group 11" id="11"/>
            <p:cNvGrpSpPr/>
            <p:nvPr/>
          </p:nvGrpSpPr>
          <p:grpSpPr>
            <a:xfrm rot="0">
              <a:off x="0" y="0"/>
              <a:ext cx="8360950" cy="1391909"/>
              <a:chOff x="0" y="0"/>
              <a:chExt cx="1851798" cy="308282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1851798" cy="308282"/>
              </a:xfrm>
              <a:custGeom>
                <a:avLst/>
                <a:gdLst/>
                <a:ahLst/>
                <a:cxnLst/>
                <a:rect r="r" b="b" t="t" l="l"/>
                <a:pathLst>
                  <a:path h="308282" w="1851798">
                    <a:moveTo>
                      <a:pt x="62965" y="0"/>
                    </a:moveTo>
                    <a:lnTo>
                      <a:pt x="1788833" y="0"/>
                    </a:lnTo>
                    <a:cubicBezTo>
                      <a:pt x="1823608" y="0"/>
                      <a:pt x="1851798" y="28191"/>
                      <a:pt x="1851798" y="62965"/>
                    </a:cubicBezTo>
                    <a:lnTo>
                      <a:pt x="1851798" y="245317"/>
                    </a:lnTo>
                    <a:cubicBezTo>
                      <a:pt x="1851798" y="280092"/>
                      <a:pt x="1823608" y="308282"/>
                      <a:pt x="1788833" y="308282"/>
                    </a:cubicBezTo>
                    <a:lnTo>
                      <a:pt x="62965" y="308282"/>
                    </a:lnTo>
                    <a:cubicBezTo>
                      <a:pt x="28191" y="308282"/>
                      <a:pt x="0" y="280092"/>
                      <a:pt x="0" y="245317"/>
                    </a:cubicBezTo>
                    <a:lnTo>
                      <a:pt x="0" y="62965"/>
                    </a:lnTo>
                    <a:cubicBezTo>
                      <a:pt x="0" y="28191"/>
                      <a:pt x="28191" y="0"/>
                      <a:pt x="62965" y="0"/>
                    </a:cubicBezTo>
                    <a:close/>
                  </a:path>
                </a:pathLst>
              </a:custGeom>
              <a:solidFill>
                <a:srgbClr val="CCEBFF"/>
              </a:solidFill>
              <a:ln w="9525" cap="rnd">
                <a:solidFill>
                  <a:srgbClr val="FFFFFF"/>
                </a:solidFill>
                <a:prstDash val="solid"/>
                <a:round/>
              </a:ln>
            </p:spPr>
          </p:sp>
          <p:sp>
            <p:nvSpPr>
              <p:cNvPr name="TextBox 13" id="13"/>
              <p:cNvSpPr txBox="true"/>
              <p:nvPr/>
            </p:nvSpPr>
            <p:spPr>
              <a:xfrm>
                <a:off x="0" y="-38100"/>
                <a:ext cx="1851798" cy="34638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14" id="14"/>
            <p:cNvSpPr txBox="true"/>
            <p:nvPr/>
          </p:nvSpPr>
          <p:spPr>
            <a:xfrm rot="0">
              <a:off x="1234077" y="216871"/>
              <a:ext cx="5892795" cy="92006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871"/>
                </a:lnSpc>
                <a:spcBef>
                  <a:spcPct val="0"/>
                </a:spcBef>
              </a:pPr>
              <a:r>
                <a:rPr lang="en-US" b="true" sz="2051">
                  <a:solidFill>
                    <a:srgbClr val="000000"/>
                  </a:solidFill>
                  <a:latin typeface="Quicksand Bold"/>
                  <a:ea typeface="Quicksand Bold"/>
                  <a:cs typeface="Quicksand Bold"/>
                  <a:sym typeface="Quicksand Bold"/>
                </a:rPr>
                <a:t>⟶ LightGBM</a:t>
              </a:r>
              <a:r>
                <a:rPr lang="en-US" b="true" sz="2051">
                  <a:solidFill>
                    <a:srgbClr val="000000"/>
                  </a:solidFill>
                  <a:latin typeface="Quicksand Bold"/>
                  <a:ea typeface="Quicksand Bold"/>
                  <a:cs typeface="Quicksand Bold"/>
                  <a:sym typeface="Quicksand Bold"/>
                </a:rPr>
                <a:t> est le meilleur</a:t>
              </a:r>
            </a:p>
            <a:p>
              <a:pPr algn="ctr">
                <a:lnSpc>
                  <a:spcPts val="2871"/>
                </a:lnSpc>
                <a:spcBef>
                  <a:spcPct val="0"/>
                </a:spcBef>
              </a:pPr>
              <a:r>
                <a:rPr lang="en-US" b="true" sz="2051">
                  <a:solidFill>
                    <a:srgbClr val="000000"/>
                  </a:solidFill>
                  <a:latin typeface="Quicksand Bold"/>
                  <a:ea typeface="Quicksand Bold"/>
                  <a:cs typeface="Quicksand Bold"/>
                  <a:sym typeface="Quicksand Bold"/>
                </a:rPr>
                <a:t>F1-Score = 0.98</a:t>
              </a: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1387201" y="5439259"/>
            <a:ext cx="7662768" cy="27254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74978" indent="-237489" lvl="1">
              <a:lnSpc>
                <a:spcPts val="3079"/>
              </a:lnSpc>
              <a:buFont typeface="Arial"/>
              <a:buChar char="•"/>
            </a:pPr>
            <a:r>
              <a:rPr lang="en-US" b="true" sz="2199">
                <a:solidFill>
                  <a:srgbClr val="FFFFFF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Métrique principale : F1-score, choisi pour équilibrer précision et recall dans un contexte médical.</a:t>
            </a:r>
          </a:p>
          <a:p>
            <a:pPr algn="l">
              <a:lnSpc>
                <a:spcPts val="3079"/>
              </a:lnSpc>
            </a:pPr>
          </a:p>
          <a:p>
            <a:pPr algn="l" marL="474978" indent="-237489" lvl="1">
              <a:lnSpc>
                <a:spcPts val="3079"/>
              </a:lnSpc>
              <a:buFont typeface="Arial"/>
              <a:buChar char="•"/>
            </a:pPr>
            <a:r>
              <a:rPr lang="en-US" b="true" sz="2199">
                <a:solidFill>
                  <a:srgbClr val="FFFFFF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Métrique complémentaire : ROC-AUC, pour mesurer la capacité de discrimination du modèle.</a:t>
            </a:r>
          </a:p>
          <a:p>
            <a:pPr algn="l">
              <a:lnSpc>
                <a:spcPts val="3079"/>
              </a:lnSpc>
            </a:pPr>
          </a:p>
          <a:p>
            <a:pPr algn="l" marL="474978" indent="-237489" lvl="1">
              <a:lnSpc>
                <a:spcPts val="3079"/>
              </a:lnSpc>
              <a:buFont typeface="Arial"/>
              <a:buChar char="•"/>
            </a:pPr>
            <a:r>
              <a:rPr lang="en-US" b="true" sz="2199">
                <a:solidFill>
                  <a:srgbClr val="FFFFFF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CV F1 = moyenne des F1-scores sur les 10 tests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1271129" y="5133899"/>
            <a:ext cx="7872871" cy="3383764"/>
            <a:chOff x="0" y="0"/>
            <a:chExt cx="2073513" cy="891197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073513" cy="891197"/>
            </a:xfrm>
            <a:custGeom>
              <a:avLst/>
              <a:gdLst/>
              <a:ahLst/>
              <a:cxnLst/>
              <a:rect r="r" b="b" t="t" l="l"/>
              <a:pathLst>
                <a:path h="891197" w="2073513">
                  <a:moveTo>
                    <a:pt x="35401" y="0"/>
                  </a:moveTo>
                  <a:lnTo>
                    <a:pt x="2038112" y="0"/>
                  </a:lnTo>
                  <a:cubicBezTo>
                    <a:pt x="2057664" y="0"/>
                    <a:pt x="2073513" y="15850"/>
                    <a:pt x="2073513" y="35401"/>
                  </a:cubicBezTo>
                  <a:lnTo>
                    <a:pt x="2073513" y="855796"/>
                  </a:lnTo>
                  <a:cubicBezTo>
                    <a:pt x="2073513" y="875348"/>
                    <a:pt x="2057664" y="891197"/>
                    <a:pt x="2038112" y="891197"/>
                  </a:cubicBezTo>
                  <a:lnTo>
                    <a:pt x="35401" y="891197"/>
                  </a:lnTo>
                  <a:cubicBezTo>
                    <a:pt x="15850" y="891197"/>
                    <a:pt x="0" y="875348"/>
                    <a:pt x="0" y="855796"/>
                  </a:cubicBezTo>
                  <a:lnTo>
                    <a:pt x="0" y="35401"/>
                  </a:lnTo>
                  <a:cubicBezTo>
                    <a:pt x="0" y="15850"/>
                    <a:pt x="15850" y="0"/>
                    <a:pt x="35401" y="0"/>
                  </a:cubicBezTo>
                  <a:close/>
                </a:path>
              </a:pathLst>
            </a:custGeom>
            <a:ln w="9525" cap="rnd">
              <a:solidFill>
                <a:srgbClr val="CCEBFF"/>
              </a:solidFill>
              <a:prstDash val="solid"/>
              <a:round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2073513" cy="9292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9968493" y="5752626"/>
            <a:ext cx="7662768" cy="1944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sz="2199" b="true">
                <a:solidFill>
                  <a:srgbClr val="FFFFFF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Les modèles testés appartiennent à différentes familles:</a:t>
            </a:r>
          </a:p>
          <a:p>
            <a:pPr algn="l" marL="474978" indent="-237489" lvl="1">
              <a:lnSpc>
                <a:spcPts val="3079"/>
              </a:lnSpc>
              <a:buFont typeface="Arial"/>
              <a:buChar char="•"/>
            </a:pPr>
            <a:r>
              <a:rPr lang="en-US" b="true" sz="2199">
                <a:solidFill>
                  <a:srgbClr val="FFFFFF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régression linéaire (Logistic Regression)</a:t>
            </a:r>
          </a:p>
          <a:p>
            <a:pPr algn="l" marL="474978" indent="-237489" lvl="1">
              <a:lnSpc>
                <a:spcPts val="3079"/>
              </a:lnSpc>
              <a:buFont typeface="Arial"/>
              <a:buChar char="•"/>
            </a:pPr>
            <a:r>
              <a:rPr lang="en-US" b="true" sz="2199">
                <a:solidFill>
                  <a:srgbClr val="FFFFFF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bagging (Random Forest) </a:t>
            </a:r>
          </a:p>
          <a:p>
            <a:pPr algn="l" marL="474978" indent="-237489" lvl="1">
              <a:lnSpc>
                <a:spcPts val="3079"/>
              </a:lnSpc>
              <a:buFont typeface="Arial"/>
              <a:buChar char="•"/>
            </a:pPr>
            <a:r>
              <a:rPr lang="en-US" b="true" sz="2199">
                <a:solidFill>
                  <a:srgbClr val="FFFFFF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boosting (LightGBM).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C367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899459" y="246262"/>
            <a:ext cx="20086919" cy="1543050"/>
            <a:chOff x="0" y="0"/>
            <a:chExt cx="5290382" cy="4064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290382" cy="406400"/>
            </a:xfrm>
            <a:custGeom>
              <a:avLst/>
              <a:gdLst/>
              <a:ahLst/>
              <a:cxnLst/>
              <a:rect r="r" b="b" t="t" l="l"/>
              <a:pathLst>
                <a:path h="406400" w="5290382">
                  <a:moveTo>
                    <a:pt x="0" y="0"/>
                  </a:moveTo>
                  <a:lnTo>
                    <a:pt x="5290382" y="0"/>
                  </a:lnTo>
                  <a:lnTo>
                    <a:pt x="5290382" y="406400"/>
                  </a:lnTo>
                  <a:lnTo>
                    <a:pt x="0" y="406400"/>
                  </a:lnTo>
                  <a:close/>
                </a:path>
              </a:pathLst>
            </a:custGeom>
            <a:ln w="952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5290382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-1230092" y="-234418"/>
            <a:ext cx="2460184" cy="2649428"/>
          </a:xfrm>
          <a:custGeom>
            <a:avLst/>
            <a:gdLst/>
            <a:ahLst/>
            <a:cxnLst/>
            <a:rect r="r" b="b" t="t" l="l"/>
            <a:pathLst>
              <a:path h="2649428" w="2460184">
                <a:moveTo>
                  <a:pt x="0" y="0"/>
                </a:moveTo>
                <a:lnTo>
                  <a:pt x="2460184" y="0"/>
                </a:lnTo>
                <a:lnTo>
                  <a:pt x="2460184" y="2649429"/>
                </a:lnTo>
                <a:lnTo>
                  <a:pt x="0" y="264942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201884" t="-35465" r="-335790" b="-529166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816870" y="2070252"/>
            <a:ext cx="5485944" cy="2798769"/>
            <a:chOff x="0" y="0"/>
            <a:chExt cx="1422037" cy="72548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422037" cy="725482"/>
            </a:xfrm>
            <a:custGeom>
              <a:avLst/>
              <a:gdLst/>
              <a:ahLst/>
              <a:cxnLst/>
              <a:rect r="r" b="b" t="t" l="l"/>
              <a:pathLst>
                <a:path h="725482" w="1422037">
                  <a:moveTo>
                    <a:pt x="63505" y="0"/>
                  </a:moveTo>
                  <a:lnTo>
                    <a:pt x="1358532" y="0"/>
                  </a:lnTo>
                  <a:cubicBezTo>
                    <a:pt x="1375374" y="0"/>
                    <a:pt x="1391527" y="6691"/>
                    <a:pt x="1403437" y="18600"/>
                  </a:cubicBezTo>
                  <a:cubicBezTo>
                    <a:pt x="1415346" y="30510"/>
                    <a:pt x="1422037" y="46663"/>
                    <a:pt x="1422037" y="63505"/>
                  </a:cubicBezTo>
                  <a:lnTo>
                    <a:pt x="1422037" y="661976"/>
                  </a:lnTo>
                  <a:cubicBezTo>
                    <a:pt x="1422037" y="678819"/>
                    <a:pt x="1415346" y="694972"/>
                    <a:pt x="1403437" y="706881"/>
                  </a:cubicBezTo>
                  <a:cubicBezTo>
                    <a:pt x="1391527" y="718791"/>
                    <a:pt x="1375374" y="725482"/>
                    <a:pt x="1358532" y="725482"/>
                  </a:cubicBezTo>
                  <a:lnTo>
                    <a:pt x="63505" y="725482"/>
                  </a:lnTo>
                  <a:cubicBezTo>
                    <a:pt x="46663" y="725482"/>
                    <a:pt x="30510" y="718791"/>
                    <a:pt x="18600" y="706881"/>
                  </a:cubicBezTo>
                  <a:cubicBezTo>
                    <a:pt x="6691" y="694972"/>
                    <a:pt x="0" y="678819"/>
                    <a:pt x="0" y="661976"/>
                  </a:cubicBezTo>
                  <a:lnTo>
                    <a:pt x="0" y="63505"/>
                  </a:lnTo>
                  <a:cubicBezTo>
                    <a:pt x="0" y="46663"/>
                    <a:pt x="6691" y="30510"/>
                    <a:pt x="18600" y="18600"/>
                  </a:cubicBezTo>
                  <a:cubicBezTo>
                    <a:pt x="30510" y="6691"/>
                    <a:pt x="46663" y="0"/>
                    <a:pt x="63505" y="0"/>
                  </a:cubicBezTo>
                  <a:close/>
                </a:path>
              </a:pathLst>
            </a:custGeom>
            <a:solidFill>
              <a:srgbClr val="CCEBFF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66675"/>
              <a:ext cx="1422037" cy="7921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91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1028700" y="5143500"/>
            <a:ext cx="5072723" cy="3164111"/>
          </a:xfrm>
          <a:custGeom>
            <a:avLst/>
            <a:gdLst/>
            <a:ahLst/>
            <a:cxnLst/>
            <a:rect r="r" b="b" t="t" l="l"/>
            <a:pathLst>
              <a:path h="3164111" w="5072723">
                <a:moveTo>
                  <a:pt x="0" y="0"/>
                </a:moveTo>
                <a:lnTo>
                  <a:pt x="5072723" y="0"/>
                </a:lnTo>
                <a:lnTo>
                  <a:pt x="5072723" y="3164111"/>
                </a:lnTo>
                <a:lnTo>
                  <a:pt x="0" y="316411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3380958" y="3086462"/>
            <a:ext cx="4740829" cy="4331496"/>
          </a:xfrm>
          <a:custGeom>
            <a:avLst/>
            <a:gdLst/>
            <a:ahLst/>
            <a:cxnLst/>
            <a:rect r="r" b="b" t="t" l="l"/>
            <a:pathLst>
              <a:path h="4331496" w="4740829">
                <a:moveTo>
                  <a:pt x="0" y="0"/>
                </a:moveTo>
                <a:lnTo>
                  <a:pt x="4740829" y="0"/>
                </a:lnTo>
                <a:lnTo>
                  <a:pt x="4740829" y="4331496"/>
                </a:lnTo>
                <a:lnTo>
                  <a:pt x="0" y="433149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6799484" y="2869042"/>
            <a:ext cx="6252805" cy="4548916"/>
          </a:xfrm>
          <a:custGeom>
            <a:avLst/>
            <a:gdLst/>
            <a:ahLst/>
            <a:cxnLst/>
            <a:rect r="r" b="b" t="t" l="l"/>
            <a:pathLst>
              <a:path h="4548916" w="6252805">
                <a:moveTo>
                  <a:pt x="0" y="0"/>
                </a:moveTo>
                <a:lnTo>
                  <a:pt x="6252805" y="0"/>
                </a:lnTo>
                <a:lnTo>
                  <a:pt x="6252805" y="4548916"/>
                </a:lnTo>
                <a:lnTo>
                  <a:pt x="0" y="454891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682610" y="591061"/>
            <a:ext cx="15040155" cy="9106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60"/>
              </a:lnSpc>
            </a:pPr>
            <a:r>
              <a:rPr lang="en-US" sz="6400">
                <a:solidFill>
                  <a:srgbClr val="FFFFFF"/>
                </a:solidFill>
                <a:latin typeface="Bungee"/>
                <a:ea typeface="Bungee"/>
                <a:cs typeface="Bungee"/>
                <a:sym typeface="Bungee"/>
              </a:rPr>
              <a:t>Modèele choisit : LightGBM 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-560183" y="9517711"/>
            <a:ext cx="2284068" cy="3993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80"/>
              </a:lnSpc>
            </a:pPr>
            <a:r>
              <a:rPr lang="en-US" sz="2755">
                <a:solidFill>
                  <a:srgbClr val="FFFFFF"/>
                </a:solidFill>
                <a:latin typeface="Bungee"/>
                <a:ea typeface="Bungee"/>
                <a:cs typeface="Bungee"/>
                <a:sym typeface="Bungee"/>
              </a:rPr>
              <a:t>6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3380958" y="1387364"/>
            <a:ext cx="3878342" cy="9796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954"/>
              </a:lnSpc>
            </a:pPr>
            <a:r>
              <a:rPr lang="en-US" sz="5681">
                <a:solidFill>
                  <a:srgbClr val="9AB7FF"/>
                </a:solidFill>
                <a:latin typeface="Brittany"/>
                <a:ea typeface="Brittany"/>
                <a:cs typeface="Brittany"/>
                <a:sym typeface="Brittany"/>
              </a:rPr>
              <a:t>LightGBM 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331801" y="2342551"/>
            <a:ext cx="4456083" cy="22160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987"/>
              </a:lnSpc>
              <a:spcBef>
                <a:spcPct val="0"/>
              </a:spcBef>
            </a:pPr>
            <a:r>
              <a:rPr lang="en-US" b="true" sz="2133" spc="-76">
                <a:solidFill>
                  <a:srgbClr val="1D3163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Le modèle LightGBM fonctionne en construisant une série d’arbres de décision où chaque nouvel arbre corrige les erreurs des précédents, afin d’améliorer progressivement la précision des prédictions.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6293289" y="7539647"/>
            <a:ext cx="7858031" cy="2585453"/>
            <a:chOff x="0" y="0"/>
            <a:chExt cx="2584443" cy="850335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584443" cy="850335"/>
            </a:xfrm>
            <a:custGeom>
              <a:avLst/>
              <a:gdLst/>
              <a:ahLst/>
              <a:cxnLst/>
              <a:rect r="r" b="b" t="t" l="l"/>
              <a:pathLst>
                <a:path h="850335" w="2584443">
                  <a:moveTo>
                    <a:pt x="98522" y="0"/>
                  </a:moveTo>
                  <a:lnTo>
                    <a:pt x="2485921" y="0"/>
                  </a:lnTo>
                  <a:cubicBezTo>
                    <a:pt x="2512051" y="0"/>
                    <a:pt x="2537110" y="10380"/>
                    <a:pt x="2555587" y="28857"/>
                  </a:cubicBezTo>
                  <a:cubicBezTo>
                    <a:pt x="2574063" y="47333"/>
                    <a:pt x="2584443" y="72393"/>
                    <a:pt x="2584443" y="98522"/>
                  </a:cubicBezTo>
                  <a:lnTo>
                    <a:pt x="2584443" y="751813"/>
                  </a:lnTo>
                  <a:cubicBezTo>
                    <a:pt x="2584443" y="777942"/>
                    <a:pt x="2574063" y="803002"/>
                    <a:pt x="2555587" y="821478"/>
                  </a:cubicBezTo>
                  <a:cubicBezTo>
                    <a:pt x="2537110" y="839955"/>
                    <a:pt x="2512051" y="850335"/>
                    <a:pt x="2485921" y="850335"/>
                  </a:cubicBezTo>
                  <a:lnTo>
                    <a:pt x="98522" y="850335"/>
                  </a:lnTo>
                  <a:cubicBezTo>
                    <a:pt x="72393" y="850335"/>
                    <a:pt x="47333" y="839955"/>
                    <a:pt x="28857" y="821478"/>
                  </a:cubicBezTo>
                  <a:cubicBezTo>
                    <a:pt x="10380" y="803002"/>
                    <a:pt x="0" y="777942"/>
                    <a:pt x="0" y="751813"/>
                  </a:cubicBezTo>
                  <a:lnTo>
                    <a:pt x="0" y="98522"/>
                  </a:lnTo>
                  <a:cubicBezTo>
                    <a:pt x="0" y="72393"/>
                    <a:pt x="10380" y="47333"/>
                    <a:pt x="28857" y="28857"/>
                  </a:cubicBezTo>
                  <a:cubicBezTo>
                    <a:pt x="47333" y="10380"/>
                    <a:pt x="72393" y="0"/>
                    <a:pt x="98522" y="0"/>
                  </a:cubicBezTo>
                  <a:close/>
                </a:path>
              </a:pathLst>
            </a:custGeom>
            <a:ln w="28575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-28575"/>
              <a:ext cx="2584443" cy="878910"/>
            </a:xfrm>
            <a:prstGeom prst="rect">
              <a:avLst/>
            </a:prstGeom>
          </p:spPr>
          <p:txBody>
            <a:bodyPr anchor="ctr" rtlCol="false" tIns="48911" lIns="48911" bIns="48911" rIns="48911"/>
            <a:lstStyle/>
            <a:p>
              <a:pPr algn="ctr">
                <a:lnSpc>
                  <a:spcPts val="2660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6652086" y="7758075"/>
            <a:ext cx="6382435" cy="772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sz="2199" b="true">
                <a:solidFill>
                  <a:srgbClr val="FFFFFF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Les features sélectionnées :</a:t>
            </a:r>
          </a:p>
          <a:p>
            <a:pPr algn="l">
              <a:lnSpc>
                <a:spcPts val="3079"/>
              </a:lnSpc>
            </a:pPr>
            <a:r>
              <a:rPr lang="en-US" sz="2199" b="true">
                <a:solidFill>
                  <a:srgbClr val="FFFFFF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Symptômes + Analyses Sanguins + Historiques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6652086" y="8758129"/>
            <a:ext cx="7339199" cy="9354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16"/>
              </a:lnSpc>
            </a:pPr>
            <a:r>
              <a:rPr lang="en-US" sz="1797" b="true">
                <a:solidFill>
                  <a:srgbClr val="FFFFFF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Les features supprimés sont :</a:t>
            </a:r>
          </a:p>
          <a:p>
            <a:pPr algn="l">
              <a:lnSpc>
                <a:spcPts val="2516"/>
              </a:lnSpc>
            </a:pPr>
            <a:r>
              <a:rPr lang="en-US" sz="1797" b="true">
                <a:solidFill>
                  <a:srgbClr val="FFFFFF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l</a:t>
            </a:r>
            <a:r>
              <a:rPr lang="en-US" sz="1797" b="true">
                <a:solidFill>
                  <a:srgbClr val="FFFFFF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es features d’échorgraphie , car ils sont les critères de diagnostic du PCOS selon les critères de </a:t>
            </a:r>
            <a:r>
              <a:rPr lang="en-US" sz="1797" b="true">
                <a:solidFill>
                  <a:srgbClr val="9AB7FF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Rotterdam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3629754" y="6826046"/>
            <a:ext cx="218688" cy="1601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23"/>
              </a:lnSpc>
            </a:pPr>
            <a:r>
              <a:rPr lang="en-US" sz="945">
                <a:solidFill>
                  <a:srgbClr val="1D3163"/>
                </a:solidFill>
                <a:latin typeface="Quicksand"/>
                <a:ea typeface="Quicksand"/>
                <a:cs typeface="Quicksand"/>
                <a:sym typeface="Quicksand"/>
              </a:rPr>
              <a:t>FN 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7259300" y="3309478"/>
            <a:ext cx="280863" cy="1601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23"/>
              </a:lnSpc>
            </a:pPr>
            <a:r>
              <a:rPr lang="en-US" sz="945">
                <a:solidFill>
                  <a:srgbClr val="1D3163"/>
                </a:solidFill>
                <a:latin typeface="Quicksand"/>
                <a:ea typeface="Quicksand"/>
                <a:cs typeface="Quicksand"/>
                <a:sym typeface="Quicksand"/>
              </a:rPr>
              <a:t>FP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C367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30092" y="458570"/>
            <a:ext cx="20086919" cy="1543050"/>
            <a:chOff x="0" y="0"/>
            <a:chExt cx="5290382" cy="4064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290382" cy="406400"/>
            </a:xfrm>
            <a:custGeom>
              <a:avLst/>
              <a:gdLst/>
              <a:ahLst/>
              <a:cxnLst/>
              <a:rect r="r" b="b" t="t" l="l"/>
              <a:pathLst>
                <a:path h="406400" w="5290382">
                  <a:moveTo>
                    <a:pt x="0" y="0"/>
                  </a:moveTo>
                  <a:lnTo>
                    <a:pt x="5290382" y="0"/>
                  </a:lnTo>
                  <a:lnTo>
                    <a:pt x="5290382" y="406400"/>
                  </a:lnTo>
                  <a:lnTo>
                    <a:pt x="0" y="406400"/>
                  </a:lnTo>
                  <a:close/>
                </a:path>
              </a:pathLst>
            </a:custGeom>
            <a:ln w="952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5290382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-1230092" y="871750"/>
            <a:ext cx="2460184" cy="2649428"/>
          </a:xfrm>
          <a:custGeom>
            <a:avLst/>
            <a:gdLst/>
            <a:ahLst/>
            <a:cxnLst/>
            <a:rect r="r" b="b" t="t" l="l"/>
            <a:pathLst>
              <a:path h="2649428" w="2460184">
                <a:moveTo>
                  <a:pt x="0" y="0"/>
                </a:moveTo>
                <a:lnTo>
                  <a:pt x="2460184" y="0"/>
                </a:lnTo>
                <a:lnTo>
                  <a:pt x="2460184" y="2649429"/>
                </a:lnTo>
                <a:lnTo>
                  <a:pt x="0" y="264942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201884" t="-35465" r="-335790" b="-529166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7057908" y="3364229"/>
            <a:ext cx="2460184" cy="2649428"/>
          </a:xfrm>
          <a:custGeom>
            <a:avLst/>
            <a:gdLst/>
            <a:ahLst/>
            <a:cxnLst/>
            <a:rect r="r" b="b" t="t" l="l"/>
            <a:pathLst>
              <a:path h="2649428" w="2460184">
                <a:moveTo>
                  <a:pt x="0" y="0"/>
                </a:moveTo>
                <a:lnTo>
                  <a:pt x="2460184" y="0"/>
                </a:lnTo>
                <a:lnTo>
                  <a:pt x="2460184" y="2649428"/>
                </a:lnTo>
                <a:lnTo>
                  <a:pt x="0" y="264942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201884" t="-35465" r="-335790" b="-529166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294257" y="2196465"/>
            <a:ext cx="10207089" cy="4478360"/>
          </a:xfrm>
          <a:custGeom>
            <a:avLst/>
            <a:gdLst/>
            <a:ahLst/>
            <a:cxnLst/>
            <a:rect r="r" b="b" t="t" l="l"/>
            <a:pathLst>
              <a:path h="4478360" w="10207089">
                <a:moveTo>
                  <a:pt x="0" y="0"/>
                </a:moveTo>
                <a:lnTo>
                  <a:pt x="10207088" y="0"/>
                </a:lnTo>
                <a:lnTo>
                  <a:pt x="10207088" y="4478360"/>
                </a:lnTo>
                <a:lnTo>
                  <a:pt x="0" y="447836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8194821" y="4435645"/>
            <a:ext cx="9749302" cy="5530348"/>
            <a:chOff x="0" y="0"/>
            <a:chExt cx="12999070" cy="737379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2999070" cy="5800835"/>
            </a:xfrm>
            <a:custGeom>
              <a:avLst/>
              <a:gdLst/>
              <a:ahLst/>
              <a:cxnLst/>
              <a:rect r="r" b="b" t="t" l="l"/>
              <a:pathLst>
                <a:path h="5800835" w="12999070">
                  <a:moveTo>
                    <a:pt x="0" y="0"/>
                  </a:moveTo>
                  <a:lnTo>
                    <a:pt x="12999070" y="0"/>
                  </a:lnTo>
                  <a:lnTo>
                    <a:pt x="12999070" y="5800835"/>
                  </a:lnTo>
                  <a:lnTo>
                    <a:pt x="0" y="580083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0" y="4736439"/>
              <a:ext cx="12999070" cy="2637358"/>
            </a:xfrm>
            <a:custGeom>
              <a:avLst/>
              <a:gdLst/>
              <a:ahLst/>
              <a:cxnLst/>
              <a:rect r="r" b="b" t="t" l="l"/>
              <a:pathLst>
                <a:path h="2637358" w="12999070">
                  <a:moveTo>
                    <a:pt x="0" y="0"/>
                  </a:moveTo>
                  <a:lnTo>
                    <a:pt x="12999070" y="0"/>
                  </a:lnTo>
                  <a:lnTo>
                    <a:pt x="12999070" y="2637358"/>
                  </a:lnTo>
                  <a:lnTo>
                    <a:pt x="0" y="26373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-15827"/>
              </a:stretch>
            </a:blip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1351978" y="803369"/>
            <a:ext cx="13009519" cy="9106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60"/>
              </a:lnSpc>
            </a:pPr>
            <a:r>
              <a:rPr lang="en-US" sz="6400">
                <a:solidFill>
                  <a:srgbClr val="FFFFFF"/>
                </a:solidFill>
                <a:latin typeface="Bungee"/>
                <a:ea typeface="Bungee"/>
                <a:cs typeface="Bungee"/>
                <a:sym typeface="Bungee"/>
              </a:rPr>
              <a:t>Application Développée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-560183" y="9517711"/>
            <a:ext cx="2284068" cy="3993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80"/>
              </a:lnSpc>
            </a:pPr>
            <a:r>
              <a:rPr lang="en-US" sz="2755">
                <a:solidFill>
                  <a:srgbClr val="FFFFFF"/>
                </a:solidFill>
                <a:latin typeface="Bungee"/>
                <a:ea typeface="Bungee"/>
                <a:cs typeface="Bungee"/>
                <a:sym typeface="Bungee"/>
              </a:rPr>
              <a:t>7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788940" y="1216830"/>
            <a:ext cx="5548670" cy="9796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954"/>
              </a:lnSpc>
            </a:pPr>
            <a:r>
              <a:rPr lang="en-US" sz="5681">
                <a:solidFill>
                  <a:srgbClr val="9AB7FF"/>
                </a:solidFill>
                <a:latin typeface="Brittany"/>
                <a:ea typeface="Brittany"/>
                <a:cs typeface="Brittany"/>
                <a:sym typeface="Brittany"/>
              </a:rPr>
              <a:t>Application Développée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C367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595468" y="1394844"/>
            <a:ext cx="1318500" cy="1969385"/>
            <a:chOff x="0" y="0"/>
            <a:chExt cx="544168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44168" cy="812800"/>
            </a:xfrm>
            <a:custGeom>
              <a:avLst/>
              <a:gdLst/>
              <a:ahLst/>
              <a:cxnLst/>
              <a:rect r="r" b="b" t="t" l="l"/>
              <a:pathLst>
                <a:path h="812800" w="544168">
                  <a:moveTo>
                    <a:pt x="272084" y="0"/>
                  </a:moveTo>
                  <a:cubicBezTo>
                    <a:pt x="121816" y="0"/>
                    <a:pt x="0" y="181951"/>
                    <a:pt x="0" y="406400"/>
                  </a:cubicBezTo>
                  <a:cubicBezTo>
                    <a:pt x="0" y="630849"/>
                    <a:pt x="121816" y="812800"/>
                    <a:pt x="272084" y="812800"/>
                  </a:cubicBezTo>
                  <a:cubicBezTo>
                    <a:pt x="422352" y="812800"/>
                    <a:pt x="544168" y="630849"/>
                    <a:pt x="544168" y="406400"/>
                  </a:cubicBezTo>
                  <a:cubicBezTo>
                    <a:pt x="544168" y="181951"/>
                    <a:pt x="422352" y="0"/>
                    <a:pt x="272084" y="0"/>
                  </a:cubicBezTo>
                  <a:close/>
                </a:path>
              </a:pathLst>
            </a:custGeom>
            <a:solidFill>
              <a:srgbClr val="1C3675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51016" y="38100"/>
              <a:ext cx="442137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612860" y="3182895"/>
            <a:ext cx="7279840" cy="4271522"/>
            <a:chOff x="0" y="0"/>
            <a:chExt cx="1843246" cy="108154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843246" cy="1081544"/>
            </a:xfrm>
            <a:custGeom>
              <a:avLst/>
              <a:gdLst/>
              <a:ahLst/>
              <a:cxnLst/>
              <a:rect r="r" b="b" t="t" l="l"/>
              <a:pathLst>
                <a:path h="1081544" w="1843246">
                  <a:moveTo>
                    <a:pt x="85078" y="0"/>
                  </a:moveTo>
                  <a:lnTo>
                    <a:pt x="1758168" y="0"/>
                  </a:lnTo>
                  <a:cubicBezTo>
                    <a:pt x="1780732" y="0"/>
                    <a:pt x="1802372" y="8964"/>
                    <a:pt x="1818327" y="24919"/>
                  </a:cubicBezTo>
                  <a:cubicBezTo>
                    <a:pt x="1834282" y="40874"/>
                    <a:pt x="1843246" y="62514"/>
                    <a:pt x="1843246" y="85078"/>
                  </a:cubicBezTo>
                  <a:lnTo>
                    <a:pt x="1843246" y="996466"/>
                  </a:lnTo>
                  <a:cubicBezTo>
                    <a:pt x="1843246" y="1019030"/>
                    <a:pt x="1834282" y="1040670"/>
                    <a:pt x="1818327" y="1056625"/>
                  </a:cubicBezTo>
                  <a:cubicBezTo>
                    <a:pt x="1802372" y="1072580"/>
                    <a:pt x="1780732" y="1081544"/>
                    <a:pt x="1758168" y="1081544"/>
                  </a:cubicBezTo>
                  <a:lnTo>
                    <a:pt x="85078" y="1081544"/>
                  </a:lnTo>
                  <a:cubicBezTo>
                    <a:pt x="38091" y="1081544"/>
                    <a:pt x="0" y="1043453"/>
                    <a:pt x="0" y="996466"/>
                  </a:cubicBezTo>
                  <a:lnTo>
                    <a:pt x="0" y="85078"/>
                  </a:lnTo>
                  <a:cubicBezTo>
                    <a:pt x="0" y="62514"/>
                    <a:pt x="8964" y="40874"/>
                    <a:pt x="24919" y="24919"/>
                  </a:cubicBezTo>
                  <a:cubicBezTo>
                    <a:pt x="40874" y="8964"/>
                    <a:pt x="62514" y="0"/>
                    <a:pt x="85078" y="0"/>
                  </a:cubicBezTo>
                  <a:close/>
                </a:path>
              </a:pathLst>
            </a:custGeom>
            <a:solidFill>
              <a:srgbClr val="1D3163"/>
            </a:solidFill>
            <a:ln w="19050" cap="rnd">
              <a:solidFill>
                <a:srgbClr val="CCEBFF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843246" cy="111964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2071263" y="990122"/>
            <a:ext cx="15496077" cy="9467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40"/>
              </a:lnSpc>
            </a:pPr>
            <a:r>
              <a:rPr lang="en-US" sz="6600">
                <a:solidFill>
                  <a:srgbClr val="CCEBFF"/>
                </a:solidFill>
                <a:latin typeface="Bungee"/>
                <a:ea typeface="Bungee"/>
                <a:cs typeface="Bungee"/>
                <a:sym typeface="Bungee"/>
              </a:rPr>
              <a:t>Conclusion ET Perspectives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-524871" y="9638344"/>
            <a:ext cx="2284068" cy="3993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80"/>
              </a:lnSpc>
            </a:pPr>
            <a:r>
              <a:rPr lang="en-US" sz="2755">
                <a:solidFill>
                  <a:srgbClr val="FFFFFF"/>
                </a:solidFill>
                <a:latin typeface="Bungee"/>
                <a:ea typeface="Bungee"/>
                <a:cs typeface="Bungee"/>
                <a:sym typeface="Bungee"/>
              </a:rPr>
              <a:t>8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2534064" y="4240087"/>
            <a:ext cx="5437433" cy="903413"/>
            <a:chOff x="0" y="0"/>
            <a:chExt cx="1875156" cy="31155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875156" cy="311552"/>
            </a:xfrm>
            <a:custGeom>
              <a:avLst/>
              <a:gdLst/>
              <a:ahLst/>
              <a:cxnLst/>
              <a:rect r="r" b="b" t="t" l="l"/>
              <a:pathLst>
                <a:path h="311552" w="1875156">
                  <a:moveTo>
                    <a:pt x="113906" y="0"/>
                  </a:moveTo>
                  <a:lnTo>
                    <a:pt x="1761251" y="0"/>
                  </a:lnTo>
                  <a:cubicBezTo>
                    <a:pt x="1791461" y="0"/>
                    <a:pt x="1820433" y="12001"/>
                    <a:pt x="1841794" y="33362"/>
                  </a:cubicBezTo>
                  <a:cubicBezTo>
                    <a:pt x="1863156" y="54724"/>
                    <a:pt x="1875156" y="83696"/>
                    <a:pt x="1875156" y="113906"/>
                  </a:cubicBezTo>
                  <a:lnTo>
                    <a:pt x="1875156" y="197646"/>
                  </a:lnTo>
                  <a:cubicBezTo>
                    <a:pt x="1875156" y="260554"/>
                    <a:pt x="1824159" y="311552"/>
                    <a:pt x="1761251" y="311552"/>
                  </a:cubicBezTo>
                  <a:lnTo>
                    <a:pt x="113906" y="311552"/>
                  </a:lnTo>
                  <a:cubicBezTo>
                    <a:pt x="50997" y="311552"/>
                    <a:pt x="0" y="260554"/>
                    <a:pt x="0" y="197646"/>
                  </a:cubicBezTo>
                  <a:lnTo>
                    <a:pt x="0" y="113906"/>
                  </a:lnTo>
                  <a:cubicBezTo>
                    <a:pt x="0" y="50997"/>
                    <a:pt x="50997" y="0"/>
                    <a:pt x="113906" y="0"/>
                  </a:cubicBezTo>
                  <a:close/>
                </a:path>
              </a:pathLst>
            </a:custGeom>
            <a:solidFill>
              <a:srgbClr val="1C3675"/>
            </a:solidFill>
            <a:ln w="19050" cap="rnd">
              <a:solidFill>
                <a:srgbClr val="CCEBFF"/>
              </a:solidFill>
              <a:prstDash val="solid"/>
              <a:round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1875156" cy="3496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2624787" y="4394982"/>
            <a:ext cx="601927" cy="601927"/>
          </a:xfrm>
          <a:custGeom>
            <a:avLst/>
            <a:gdLst/>
            <a:ahLst/>
            <a:cxnLst/>
            <a:rect r="r" b="b" t="t" l="l"/>
            <a:pathLst>
              <a:path h="601927" w="601927">
                <a:moveTo>
                  <a:pt x="0" y="0"/>
                </a:moveTo>
                <a:lnTo>
                  <a:pt x="601926" y="0"/>
                </a:lnTo>
                <a:lnTo>
                  <a:pt x="601926" y="601927"/>
                </a:lnTo>
                <a:lnTo>
                  <a:pt x="0" y="60192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4" id="14"/>
          <p:cNvGrpSpPr/>
          <p:nvPr/>
        </p:nvGrpSpPr>
        <p:grpSpPr>
          <a:xfrm rot="0">
            <a:off x="2534064" y="5546334"/>
            <a:ext cx="5437433" cy="954041"/>
            <a:chOff x="0" y="0"/>
            <a:chExt cx="1875156" cy="329011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875156" cy="329011"/>
            </a:xfrm>
            <a:custGeom>
              <a:avLst/>
              <a:gdLst/>
              <a:ahLst/>
              <a:cxnLst/>
              <a:rect r="r" b="b" t="t" l="l"/>
              <a:pathLst>
                <a:path h="329011" w="1875156">
                  <a:moveTo>
                    <a:pt x="113906" y="0"/>
                  </a:moveTo>
                  <a:lnTo>
                    <a:pt x="1761251" y="0"/>
                  </a:lnTo>
                  <a:cubicBezTo>
                    <a:pt x="1791461" y="0"/>
                    <a:pt x="1820433" y="12001"/>
                    <a:pt x="1841794" y="33362"/>
                  </a:cubicBezTo>
                  <a:cubicBezTo>
                    <a:pt x="1863156" y="54724"/>
                    <a:pt x="1875156" y="83696"/>
                    <a:pt x="1875156" y="113906"/>
                  </a:cubicBezTo>
                  <a:lnTo>
                    <a:pt x="1875156" y="215106"/>
                  </a:lnTo>
                  <a:cubicBezTo>
                    <a:pt x="1875156" y="278014"/>
                    <a:pt x="1824159" y="329011"/>
                    <a:pt x="1761251" y="329011"/>
                  </a:cubicBezTo>
                  <a:lnTo>
                    <a:pt x="113906" y="329011"/>
                  </a:lnTo>
                  <a:cubicBezTo>
                    <a:pt x="50997" y="329011"/>
                    <a:pt x="0" y="278014"/>
                    <a:pt x="0" y="215106"/>
                  </a:cubicBezTo>
                  <a:lnTo>
                    <a:pt x="0" y="113906"/>
                  </a:lnTo>
                  <a:cubicBezTo>
                    <a:pt x="0" y="50997"/>
                    <a:pt x="50997" y="0"/>
                    <a:pt x="113906" y="0"/>
                  </a:cubicBezTo>
                  <a:close/>
                </a:path>
              </a:pathLst>
            </a:custGeom>
            <a:solidFill>
              <a:srgbClr val="1C3675"/>
            </a:solidFill>
            <a:ln w="19050" cap="rnd">
              <a:solidFill>
                <a:srgbClr val="CCEBFF"/>
              </a:solidFill>
              <a:prstDash val="solid"/>
              <a:round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875156" cy="36711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7" id="17"/>
          <p:cNvSpPr/>
          <p:nvPr/>
        </p:nvSpPr>
        <p:spPr>
          <a:xfrm flipH="false" flipV="false" rot="0">
            <a:off x="2669806" y="5708310"/>
            <a:ext cx="601927" cy="601927"/>
          </a:xfrm>
          <a:custGeom>
            <a:avLst/>
            <a:gdLst/>
            <a:ahLst/>
            <a:cxnLst/>
            <a:rect r="r" b="b" t="t" l="l"/>
            <a:pathLst>
              <a:path h="601927" w="601927">
                <a:moveTo>
                  <a:pt x="0" y="0"/>
                </a:moveTo>
                <a:lnTo>
                  <a:pt x="601927" y="0"/>
                </a:lnTo>
                <a:lnTo>
                  <a:pt x="601927" y="601926"/>
                </a:lnTo>
                <a:lnTo>
                  <a:pt x="0" y="60192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3372945" y="4495870"/>
            <a:ext cx="4598551" cy="3620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3"/>
              </a:lnSpc>
            </a:pPr>
            <a:r>
              <a:rPr lang="en-US" sz="2138" b="true">
                <a:solidFill>
                  <a:srgbClr val="FFFFFF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Modèle performant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3417965" y="5779204"/>
            <a:ext cx="4553532" cy="3620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3"/>
              </a:lnSpc>
            </a:pPr>
            <a:r>
              <a:rPr lang="en-US" sz="2138" b="true">
                <a:solidFill>
                  <a:srgbClr val="FFFFFF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 Application fonctionnelle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9591571" y="3182895"/>
            <a:ext cx="7279840" cy="4271522"/>
            <a:chOff x="0" y="0"/>
            <a:chExt cx="1843246" cy="1081544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843246" cy="1081544"/>
            </a:xfrm>
            <a:custGeom>
              <a:avLst/>
              <a:gdLst/>
              <a:ahLst/>
              <a:cxnLst/>
              <a:rect r="r" b="b" t="t" l="l"/>
              <a:pathLst>
                <a:path h="1081544" w="1843246">
                  <a:moveTo>
                    <a:pt x="85078" y="0"/>
                  </a:moveTo>
                  <a:lnTo>
                    <a:pt x="1758168" y="0"/>
                  </a:lnTo>
                  <a:cubicBezTo>
                    <a:pt x="1780732" y="0"/>
                    <a:pt x="1802372" y="8964"/>
                    <a:pt x="1818327" y="24919"/>
                  </a:cubicBezTo>
                  <a:cubicBezTo>
                    <a:pt x="1834282" y="40874"/>
                    <a:pt x="1843246" y="62514"/>
                    <a:pt x="1843246" y="85078"/>
                  </a:cubicBezTo>
                  <a:lnTo>
                    <a:pt x="1843246" y="996466"/>
                  </a:lnTo>
                  <a:cubicBezTo>
                    <a:pt x="1843246" y="1019030"/>
                    <a:pt x="1834282" y="1040670"/>
                    <a:pt x="1818327" y="1056625"/>
                  </a:cubicBezTo>
                  <a:cubicBezTo>
                    <a:pt x="1802372" y="1072580"/>
                    <a:pt x="1780732" y="1081544"/>
                    <a:pt x="1758168" y="1081544"/>
                  </a:cubicBezTo>
                  <a:lnTo>
                    <a:pt x="85078" y="1081544"/>
                  </a:lnTo>
                  <a:cubicBezTo>
                    <a:pt x="38091" y="1081544"/>
                    <a:pt x="0" y="1043453"/>
                    <a:pt x="0" y="996466"/>
                  </a:cubicBezTo>
                  <a:lnTo>
                    <a:pt x="0" y="85078"/>
                  </a:lnTo>
                  <a:cubicBezTo>
                    <a:pt x="0" y="62514"/>
                    <a:pt x="8964" y="40874"/>
                    <a:pt x="24919" y="24919"/>
                  </a:cubicBezTo>
                  <a:cubicBezTo>
                    <a:pt x="40874" y="8964"/>
                    <a:pt x="62514" y="0"/>
                    <a:pt x="85078" y="0"/>
                  </a:cubicBezTo>
                  <a:close/>
                </a:path>
              </a:pathLst>
            </a:custGeom>
            <a:solidFill>
              <a:srgbClr val="1D3163"/>
            </a:solidFill>
            <a:ln w="19050" cap="rnd">
              <a:solidFill>
                <a:srgbClr val="CCEBFF"/>
              </a:solidFill>
              <a:prstDash val="solid"/>
              <a:round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1843246" cy="111964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0295763" y="3889848"/>
            <a:ext cx="5633647" cy="752672"/>
            <a:chOff x="0" y="0"/>
            <a:chExt cx="1942823" cy="259567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942823" cy="259567"/>
            </a:xfrm>
            <a:custGeom>
              <a:avLst/>
              <a:gdLst/>
              <a:ahLst/>
              <a:cxnLst/>
              <a:rect r="r" b="b" t="t" l="l"/>
              <a:pathLst>
                <a:path h="259567" w="1942823">
                  <a:moveTo>
                    <a:pt x="109938" y="0"/>
                  </a:moveTo>
                  <a:lnTo>
                    <a:pt x="1832885" y="0"/>
                  </a:lnTo>
                  <a:cubicBezTo>
                    <a:pt x="1893602" y="0"/>
                    <a:pt x="1942823" y="49221"/>
                    <a:pt x="1942823" y="109938"/>
                  </a:cubicBezTo>
                  <a:lnTo>
                    <a:pt x="1942823" y="149629"/>
                  </a:lnTo>
                  <a:cubicBezTo>
                    <a:pt x="1942823" y="210346"/>
                    <a:pt x="1893602" y="259567"/>
                    <a:pt x="1832885" y="259567"/>
                  </a:cubicBezTo>
                  <a:lnTo>
                    <a:pt x="109938" y="259567"/>
                  </a:lnTo>
                  <a:cubicBezTo>
                    <a:pt x="80781" y="259567"/>
                    <a:pt x="52818" y="247984"/>
                    <a:pt x="32200" y="227367"/>
                  </a:cubicBezTo>
                  <a:cubicBezTo>
                    <a:pt x="11583" y="206749"/>
                    <a:pt x="0" y="178786"/>
                    <a:pt x="0" y="149629"/>
                  </a:cubicBezTo>
                  <a:lnTo>
                    <a:pt x="0" y="109938"/>
                  </a:lnTo>
                  <a:cubicBezTo>
                    <a:pt x="0" y="80781"/>
                    <a:pt x="11583" y="52818"/>
                    <a:pt x="32200" y="32200"/>
                  </a:cubicBezTo>
                  <a:cubicBezTo>
                    <a:pt x="52818" y="11583"/>
                    <a:pt x="80781" y="0"/>
                    <a:pt x="109938" y="0"/>
                  </a:cubicBezTo>
                  <a:close/>
                </a:path>
              </a:pathLst>
            </a:custGeom>
            <a:solidFill>
              <a:srgbClr val="1C3675"/>
            </a:solidFill>
            <a:ln w="19050" cap="rnd">
              <a:solidFill>
                <a:srgbClr val="CCEBFF"/>
              </a:solidFill>
              <a:prstDash val="solid"/>
              <a:round/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1942823" cy="2976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6" id="26"/>
          <p:cNvSpPr txBox="true"/>
          <p:nvPr/>
        </p:nvSpPr>
        <p:spPr>
          <a:xfrm rot="0">
            <a:off x="11179664" y="4066108"/>
            <a:ext cx="3195331" cy="3620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3"/>
              </a:lnSpc>
            </a:pPr>
            <a:r>
              <a:rPr lang="en-US" sz="2138" b="true">
                <a:solidFill>
                  <a:srgbClr val="FFFFFF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Optimisation avancée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3966964" y="2384594"/>
            <a:ext cx="2571631" cy="9796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954"/>
              </a:lnSpc>
            </a:pPr>
            <a:r>
              <a:rPr lang="en-US" sz="5681">
                <a:solidFill>
                  <a:srgbClr val="9AB7FF"/>
                </a:solidFill>
                <a:latin typeface="Brittany"/>
                <a:ea typeface="Brittany"/>
                <a:cs typeface="Brittany"/>
                <a:sym typeface="Brittany"/>
              </a:rPr>
              <a:t>Conclusion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1646948" y="2479236"/>
            <a:ext cx="3169087" cy="9796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954"/>
              </a:lnSpc>
            </a:pPr>
            <a:r>
              <a:rPr lang="en-US" sz="5681">
                <a:solidFill>
                  <a:srgbClr val="9AB7FF"/>
                </a:solidFill>
                <a:latin typeface="Brittany"/>
                <a:ea typeface="Brittany"/>
                <a:cs typeface="Brittany"/>
                <a:sym typeface="Brittany"/>
              </a:rPr>
              <a:t>Perspectives</a:t>
            </a:r>
          </a:p>
        </p:txBody>
      </p:sp>
      <p:sp>
        <p:nvSpPr>
          <p:cNvPr name="Freeform 29" id="29"/>
          <p:cNvSpPr/>
          <p:nvPr/>
        </p:nvSpPr>
        <p:spPr>
          <a:xfrm flipH="false" flipV="false" rot="0">
            <a:off x="10430823" y="3965221"/>
            <a:ext cx="601927" cy="601927"/>
          </a:xfrm>
          <a:custGeom>
            <a:avLst/>
            <a:gdLst/>
            <a:ahLst/>
            <a:cxnLst/>
            <a:rect r="r" b="b" t="t" l="l"/>
            <a:pathLst>
              <a:path h="601927" w="601927">
                <a:moveTo>
                  <a:pt x="0" y="0"/>
                </a:moveTo>
                <a:lnTo>
                  <a:pt x="601927" y="0"/>
                </a:lnTo>
                <a:lnTo>
                  <a:pt x="601927" y="601926"/>
                </a:lnTo>
                <a:lnTo>
                  <a:pt x="0" y="60192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0" id="30"/>
          <p:cNvGrpSpPr/>
          <p:nvPr/>
        </p:nvGrpSpPr>
        <p:grpSpPr>
          <a:xfrm rot="0">
            <a:off x="10295763" y="4906362"/>
            <a:ext cx="5633647" cy="1053636"/>
            <a:chOff x="0" y="0"/>
            <a:chExt cx="1942823" cy="363357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942823" cy="363357"/>
            </a:xfrm>
            <a:custGeom>
              <a:avLst/>
              <a:gdLst/>
              <a:ahLst/>
              <a:cxnLst/>
              <a:rect r="r" b="b" t="t" l="l"/>
              <a:pathLst>
                <a:path h="363357" w="1942823">
                  <a:moveTo>
                    <a:pt x="109938" y="0"/>
                  </a:moveTo>
                  <a:lnTo>
                    <a:pt x="1832885" y="0"/>
                  </a:lnTo>
                  <a:cubicBezTo>
                    <a:pt x="1893602" y="0"/>
                    <a:pt x="1942823" y="49221"/>
                    <a:pt x="1942823" y="109938"/>
                  </a:cubicBezTo>
                  <a:lnTo>
                    <a:pt x="1942823" y="253419"/>
                  </a:lnTo>
                  <a:cubicBezTo>
                    <a:pt x="1942823" y="314136"/>
                    <a:pt x="1893602" y="363357"/>
                    <a:pt x="1832885" y="363357"/>
                  </a:cubicBezTo>
                  <a:lnTo>
                    <a:pt x="109938" y="363357"/>
                  </a:lnTo>
                  <a:cubicBezTo>
                    <a:pt x="80781" y="363357"/>
                    <a:pt x="52818" y="351775"/>
                    <a:pt x="32200" y="331157"/>
                  </a:cubicBezTo>
                  <a:cubicBezTo>
                    <a:pt x="11583" y="310540"/>
                    <a:pt x="0" y="282577"/>
                    <a:pt x="0" y="253419"/>
                  </a:cubicBezTo>
                  <a:lnTo>
                    <a:pt x="0" y="109938"/>
                  </a:lnTo>
                  <a:cubicBezTo>
                    <a:pt x="0" y="80781"/>
                    <a:pt x="11583" y="52818"/>
                    <a:pt x="32200" y="32200"/>
                  </a:cubicBezTo>
                  <a:cubicBezTo>
                    <a:pt x="52818" y="11583"/>
                    <a:pt x="80781" y="0"/>
                    <a:pt x="109938" y="0"/>
                  </a:cubicBezTo>
                  <a:close/>
                </a:path>
              </a:pathLst>
            </a:custGeom>
            <a:solidFill>
              <a:srgbClr val="1C3675"/>
            </a:solidFill>
            <a:ln w="19050" cap="rnd">
              <a:solidFill>
                <a:srgbClr val="CCEBFF"/>
              </a:solidFill>
              <a:prstDash val="solid"/>
              <a:round/>
            </a:ln>
          </p:spPr>
        </p:sp>
        <p:sp>
          <p:nvSpPr>
            <p:cNvPr name="TextBox 32" id="32"/>
            <p:cNvSpPr txBox="true"/>
            <p:nvPr/>
          </p:nvSpPr>
          <p:spPr>
            <a:xfrm>
              <a:off x="0" y="-38100"/>
              <a:ext cx="1942823" cy="4014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33" id="33"/>
          <p:cNvSpPr txBox="true"/>
          <p:nvPr/>
        </p:nvSpPr>
        <p:spPr>
          <a:xfrm rot="0">
            <a:off x="11084414" y="5043970"/>
            <a:ext cx="4844996" cy="7403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3"/>
              </a:lnSpc>
            </a:pPr>
            <a:r>
              <a:rPr lang="en-US" sz="2138" b="true">
                <a:solidFill>
                  <a:srgbClr val="FFFFFF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Analyse automatique des rapports médicaux</a:t>
            </a:r>
          </a:p>
        </p:txBody>
      </p:sp>
      <p:sp>
        <p:nvSpPr>
          <p:cNvPr name="Freeform 34" id="34"/>
          <p:cNvSpPr/>
          <p:nvPr/>
        </p:nvSpPr>
        <p:spPr>
          <a:xfrm flipH="false" flipV="false" rot="0">
            <a:off x="10430823" y="5132216"/>
            <a:ext cx="601927" cy="601927"/>
          </a:xfrm>
          <a:custGeom>
            <a:avLst/>
            <a:gdLst/>
            <a:ahLst/>
            <a:cxnLst/>
            <a:rect r="r" b="b" t="t" l="l"/>
            <a:pathLst>
              <a:path h="601927" w="601927">
                <a:moveTo>
                  <a:pt x="0" y="0"/>
                </a:moveTo>
                <a:lnTo>
                  <a:pt x="601927" y="0"/>
                </a:lnTo>
                <a:lnTo>
                  <a:pt x="601927" y="601927"/>
                </a:lnTo>
                <a:lnTo>
                  <a:pt x="0" y="60192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5" id="35"/>
          <p:cNvGrpSpPr/>
          <p:nvPr/>
        </p:nvGrpSpPr>
        <p:grpSpPr>
          <a:xfrm rot="0">
            <a:off x="10295763" y="6226698"/>
            <a:ext cx="5633647" cy="752672"/>
            <a:chOff x="0" y="0"/>
            <a:chExt cx="1942823" cy="259567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942823" cy="259567"/>
            </a:xfrm>
            <a:custGeom>
              <a:avLst/>
              <a:gdLst/>
              <a:ahLst/>
              <a:cxnLst/>
              <a:rect r="r" b="b" t="t" l="l"/>
              <a:pathLst>
                <a:path h="259567" w="1942823">
                  <a:moveTo>
                    <a:pt x="109938" y="0"/>
                  </a:moveTo>
                  <a:lnTo>
                    <a:pt x="1832885" y="0"/>
                  </a:lnTo>
                  <a:cubicBezTo>
                    <a:pt x="1893602" y="0"/>
                    <a:pt x="1942823" y="49221"/>
                    <a:pt x="1942823" y="109938"/>
                  </a:cubicBezTo>
                  <a:lnTo>
                    <a:pt x="1942823" y="149629"/>
                  </a:lnTo>
                  <a:cubicBezTo>
                    <a:pt x="1942823" y="210346"/>
                    <a:pt x="1893602" y="259567"/>
                    <a:pt x="1832885" y="259567"/>
                  </a:cubicBezTo>
                  <a:lnTo>
                    <a:pt x="109938" y="259567"/>
                  </a:lnTo>
                  <a:cubicBezTo>
                    <a:pt x="80781" y="259567"/>
                    <a:pt x="52818" y="247984"/>
                    <a:pt x="32200" y="227367"/>
                  </a:cubicBezTo>
                  <a:cubicBezTo>
                    <a:pt x="11583" y="206749"/>
                    <a:pt x="0" y="178786"/>
                    <a:pt x="0" y="149629"/>
                  </a:cubicBezTo>
                  <a:lnTo>
                    <a:pt x="0" y="109938"/>
                  </a:lnTo>
                  <a:cubicBezTo>
                    <a:pt x="0" y="80781"/>
                    <a:pt x="11583" y="52818"/>
                    <a:pt x="32200" y="32200"/>
                  </a:cubicBezTo>
                  <a:cubicBezTo>
                    <a:pt x="52818" y="11583"/>
                    <a:pt x="80781" y="0"/>
                    <a:pt x="109938" y="0"/>
                  </a:cubicBezTo>
                  <a:close/>
                </a:path>
              </a:pathLst>
            </a:custGeom>
            <a:solidFill>
              <a:srgbClr val="1C3675"/>
            </a:solidFill>
            <a:ln w="19050" cap="rnd">
              <a:solidFill>
                <a:srgbClr val="CCEBFF"/>
              </a:solidFill>
              <a:prstDash val="solid"/>
              <a:round/>
            </a:ln>
          </p:spPr>
        </p:sp>
        <p:sp>
          <p:nvSpPr>
            <p:cNvPr name="TextBox 37" id="37"/>
            <p:cNvSpPr txBox="true"/>
            <p:nvPr/>
          </p:nvSpPr>
          <p:spPr>
            <a:xfrm>
              <a:off x="0" y="-38100"/>
              <a:ext cx="1942823" cy="2976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38" id="38"/>
          <p:cNvSpPr txBox="true"/>
          <p:nvPr/>
        </p:nvSpPr>
        <p:spPr>
          <a:xfrm rot="0">
            <a:off x="11179664" y="6412483"/>
            <a:ext cx="5520297" cy="5940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3"/>
              </a:lnSpc>
            </a:pPr>
            <a:r>
              <a:rPr lang="en-US" sz="1738" b="true">
                <a:solidFill>
                  <a:srgbClr val="FFFFFF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Validation clinique avec des médecins</a:t>
            </a:r>
          </a:p>
          <a:p>
            <a:pPr algn="l">
              <a:lnSpc>
                <a:spcPts val="2433"/>
              </a:lnSpc>
            </a:pPr>
          </a:p>
        </p:txBody>
      </p:sp>
      <p:sp>
        <p:nvSpPr>
          <p:cNvPr name="Freeform 39" id="39"/>
          <p:cNvSpPr/>
          <p:nvPr/>
        </p:nvSpPr>
        <p:spPr>
          <a:xfrm flipH="false" flipV="false" rot="0">
            <a:off x="10430823" y="6302070"/>
            <a:ext cx="601927" cy="601927"/>
          </a:xfrm>
          <a:custGeom>
            <a:avLst/>
            <a:gdLst/>
            <a:ahLst/>
            <a:cxnLst/>
            <a:rect r="r" b="b" t="t" l="l"/>
            <a:pathLst>
              <a:path h="601927" w="601927">
                <a:moveTo>
                  <a:pt x="0" y="0"/>
                </a:moveTo>
                <a:lnTo>
                  <a:pt x="601927" y="0"/>
                </a:lnTo>
                <a:lnTo>
                  <a:pt x="601927" y="601927"/>
                </a:lnTo>
                <a:lnTo>
                  <a:pt x="0" y="60192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C367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232079" y="899913"/>
            <a:ext cx="13392835" cy="8928556"/>
          </a:xfrm>
          <a:custGeom>
            <a:avLst/>
            <a:gdLst/>
            <a:ahLst/>
            <a:cxnLst/>
            <a:rect r="r" b="b" t="t" l="l"/>
            <a:pathLst>
              <a:path h="8928556" w="13392835">
                <a:moveTo>
                  <a:pt x="0" y="0"/>
                </a:moveTo>
                <a:lnTo>
                  <a:pt x="13392834" y="0"/>
                </a:lnTo>
                <a:lnTo>
                  <a:pt x="13392834" y="8928557"/>
                </a:lnTo>
                <a:lnTo>
                  <a:pt x="0" y="892855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-524871" y="9638344"/>
            <a:ext cx="2284068" cy="3993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80"/>
              </a:lnSpc>
            </a:pPr>
            <a:r>
              <a:rPr lang="en-US" sz="2755">
                <a:solidFill>
                  <a:srgbClr val="FFFFFF"/>
                </a:solidFill>
                <a:latin typeface="Bungee"/>
                <a:ea typeface="Bungee"/>
                <a:cs typeface="Bungee"/>
                <a:sym typeface="Bungee"/>
              </a:rPr>
              <a:t>9</a:t>
            </a:r>
          </a:p>
        </p:txBody>
      </p:sp>
      <p:sp>
        <p:nvSpPr>
          <p:cNvPr name="TextBox 4" id="4"/>
          <p:cNvSpPr txBox="true"/>
          <p:nvPr/>
        </p:nvSpPr>
        <p:spPr>
          <a:xfrm rot="-208294">
            <a:off x="5772039" y="3455681"/>
            <a:ext cx="6731810" cy="36173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500"/>
              </a:lnSpc>
            </a:pPr>
            <a:r>
              <a:rPr lang="en-US" sz="10357">
                <a:solidFill>
                  <a:srgbClr val="FFFFFF"/>
                </a:solidFill>
                <a:latin typeface="Brittany"/>
                <a:ea typeface="Brittany"/>
                <a:cs typeface="Brittany"/>
                <a:sym typeface="Brittany"/>
              </a:rPr>
              <a:t>Merci de votre attention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DAG9k_UAt24</dc:identifier>
  <dcterms:modified xsi:type="dcterms:W3CDTF">2011-08-01T06:04:30Z</dcterms:modified>
  <cp:revision>1</cp:revision>
  <dc:title>Présentation AI PCOS</dc:title>
</cp:coreProperties>
</file>